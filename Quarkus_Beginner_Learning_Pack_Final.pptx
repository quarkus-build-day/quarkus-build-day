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336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21962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Visual on this slide was generated with Microsoft Copilot.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Internal Labs@LBG describes its Java Quarkus lab as a beginners lab for understanding the fundamentals of Java Quarkus. (turn4search24)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Quarkus describes itself as a Java framework for fast, efficient, cloud-native applications. https://quarkus.io/get-started/
The official getting-started guide covers a REST endpoint, live coding, dependency injection and tests. https://quarkus.io/guides/getting-started/
Internal Quarkus workshop material includes management endpoints, health, metrics, telemetry, configuration, logging and tracing. (turn4search20)
Visual on this slide was generated with Microsoft Copilot.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Visual on this slide was generated with Microsoft Copilot.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Internal LBG Quarkus material highlights fast startup, low memory footprint and cloud-native architecture. (turn4search25)
The official Quarkus getting-started page demonstrates Dev Mode and live coding. https://quarkus.io/get-started/
Internal workshop material includes build, test, image, deploy, health, metrics and logging themes. (turn4search20)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The official Quarkus getting-started guide lists an IDE, JDK 17+ and Apache Maven 3.9.16; the Quarkus CLI is optional. https://quarkus.io/guides/getting-started/
Internal setup guidance lists JDK 21 and Apache Maven 3.9+. (turn4search22)
Internal workshop material includes Postgres, Docker Compose, health, metrics, OpenAPI and Bruno side quests. (turn4search20)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The official getting-started guide generates a REST endpoint, unit test, landing page, Dockerfiles and configuration file. https://quarkus.io/guides/getting-started/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The official guide covers creating a REST endpoint, live coding, dependency injection and tests. https://quarkus.io/guides/getting-started/
Internal workshop material lists side quests including Swagger/OpenAPI, health, metrics, logs, database inspection and a generated UI. (turn4search20)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The official getting-started guide runs Maven projects with ./mvnw quarkus:dev and Gradle projects with ./gradlew --console=plain quarkusDev. https://quarkus.io/guides/getting-started/
The official Quarkus get-started page demonstrates editing a REST endpoint and refreshing the browser to see the change. https://quarkus.io/get-started/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Internal workshop material lists Swagger/OpenAPI, registration/login API exploration, Dev UI, database inspection, metrics, health, logs and UI generation as side quests. (turn4search20)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Internal workshop material positions health, metrics, telemetry, configuration, logging and tracing as production concerns. (turn4search20)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Internal workshop materials encourage participants to follow the workshop guide and explore side quests. (turn4search20)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64072"/>
          </a:solidFill>
          <a:ln w="12700">
            <a:solidFill>
              <a:srgbClr val="E640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9672"/>
            <a:ext cx="6766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>
                <a:solidFill>
                  <a:srgbClr val="6B61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QUARKUS BUILD DAY  •  BEGINNER LEARNING PACK</a:t>
            </a:r>
            <a:endParaRPr lang="en-US" sz="800"/>
          </a:p>
        </p:txBody>
      </p:sp>
      <p:sp>
        <p:nvSpPr>
          <p:cNvPr id="4" name="Text 2"/>
          <p:cNvSpPr/>
          <p:nvPr/>
        </p:nvSpPr>
        <p:spPr>
          <a:xfrm>
            <a:off x="8412480" y="6519672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6B61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Lloyds Banking Group x DevOps Society</a:t>
            </a:r>
            <a:endParaRPr lang="en-US" sz="8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17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617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5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/mnt/data/1b0e7bd150.png"/>
          <p:cNvPicPr>
            <a:picLocks noChangeAspect="1"/>
          </p:cNvPicPr>
          <p:nvPr/>
        </p:nvPicPr>
        <p:blipFill>
          <a:blip r:embed="rId3"/>
          <a:srcRect t="7811" b="781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52B">
              <a:alpha val="62000"/>
            </a:srgbClr>
          </a:solidFill>
          <a:ln w="12700">
            <a:solidFill>
              <a:srgbClr val="1115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1"/>
          <p:cNvSpPr/>
          <p:nvPr/>
        </p:nvSpPr>
        <p:spPr>
          <a:xfrm>
            <a:off x="594360" y="566928"/>
            <a:ext cx="6355080" cy="5440680"/>
          </a:xfrm>
          <a:prstGeom prst="rect">
            <a:avLst/>
          </a:prstGeom>
          <a:solidFill>
            <a:srgbClr val="11152B">
              <a:alpha val="8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2"/>
          <p:cNvSpPr/>
          <p:nvPr/>
        </p:nvSpPr>
        <p:spPr>
          <a:xfrm>
            <a:off x="822960" y="105156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9DAE"/>
                </a:solidFill>
              </a:rPr>
              <a:t>QUARKUS BUILD DAY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822960" y="1600200"/>
            <a:ext cx="5669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>
                <a:solidFill>
                  <a:srgbClr val="FFFFFF"/>
                </a:solidFill>
                <a:latin typeface="Aptos Display"/>
              </a:rPr>
              <a:t>Beginner</a:t>
            </a:r>
            <a:endParaRPr lang="en-US" sz="3800" dirty="0"/>
          </a:p>
          <a:p>
            <a:pPr marL="0" indent="0">
              <a:buNone/>
            </a:pPr>
            <a:r>
              <a:rPr lang="en-US" sz="4000" b="1">
                <a:solidFill>
                  <a:srgbClr val="FFFFFF"/>
                </a:solidFill>
                <a:latin typeface="Aptos Display"/>
              </a:rPr>
              <a:t>Learning Pack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841248" y="338328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GB" sz="1800">
                <a:solidFill>
                  <a:srgbClr val="FFFFFF"/>
                </a:solidFill>
                <a:latin typeface="Aptos"/>
              </a:rPr>
              <a:t>Welcome. Explore Quarkus, run the service and build your first API.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41248" y="5138928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Lloyds Banking Group  ×  DevOps Society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528048" y="502920"/>
            <a:ext cx="1993392" cy="320040"/>
          </a:xfrm>
          <a:prstGeom prst="rect">
            <a:avLst/>
          </a:prstGeom>
          <a:solidFill>
            <a:srgbClr val="E64072">
              <a:alpha val="95000"/>
            </a:srgbClr>
          </a:solidFill>
          <a:ln>
            <a:solidFill>
              <a:srgbClr val="E64072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BEGINNER FRIENDLY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640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/>
          <p:cNvSpPr txBox="1">
            <a:spLocks/>
          </p:cNvSpPr>
          <p:nvPr/>
        </p:nvSpPr>
        <p:spPr>
          <a:xfrm>
            <a:off x="566928" y="329184"/>
            <a:ext cx="530352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100" b="1" i="0">
                <a:solidFill>
                  <a:srgbClr val="E64072"/>
                </a:solidFill>
                <a:latin typeface="Aptos"/>
              </a:rPr>
              <a:t>WELCOME</a:t>
            </a:r>
          </a:p>
        </p:txBody>
      </p:sp>
      <p:sp>
        <p:nvSpPr>
          <p:cNvPr id="4" name="TextBox 3"/>
          <p:cNvSpPr txBox="1">
            <a:spLocks/>
          </p:cNvSpPr>
          <p:nvPr/>
        </p:nvSpPr>
        <p:spPr>
          <a:xfrm>
            <a:off x="566928" y="630936"/>
            <a:ext cx="10972800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3000" b="1" i="0">
                <a:solidFill>
                  <a:srgbClr val="11152B"/>
                </a:solidFill>
                <a:latin typeface="Aptos Display"/>
              </a:rPr>
              <a:t>Modern Java, built for the cloud</a:t>
            </a:r>
          </a:p>
        </p:txBody>
      </p:sp>
      <p:sp>
        <p:nvSpPr>
          <p:cNvPr id="5" name="TextBox 4"/>
          <p:cNvSpPr txBox="1">
            <a:spLocks/>
          </p:cNvSpPr>
          <p:nvPr/>
        </p:nvSpPr>
        <p:spPr>
          <a:xfrm>
            <a:off x="566928" y="1207008"/>
            <a:ext cx="1097280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500" b="0" i="0">
                <a:solidFill>
                  <a:srgbClr val="6B6175"/>
                </a:solidFill>
                <a:latin typeface="Aptos"/>
              </a:rPr>
              <a:t>Today you will explore Quarkus through concepts, discussion and hands-on practice.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658368" y="1755648"/>
            <a:ext cx="489204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2300" b="1" i="0">
                <a:solidFill>
                  <a:srgbClr val="11152B"/>
                </a:solidFill>
                <a:latin typeface="Aptos"/>
              </a:rPr>
              <a:t>Quarkus is a modern Java framework</a:t>
            </a:r>
          </a:p>
        </p:txBody>
      </p:sp>
      <p:sp>
        <p:nvSpPr>
          <p:cNvPr id="10" name="TextBox 9"/>
          <p:cNvSpPr txBox="1">
            <a:spLocks/>
          </p:cNvSpPr>
          <p:nvPr/>
        </p:nvSpPr>
        <p:spPr>
          <a:xfrm>
            <a:off x="658368" y="2212848"/>
            <a:ext cx="4983480" cy="10789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800" b="0" i="0" dirty="0">
                <a:solidFill>
                  <a:srgbClr val="6B6175"/>
                </a:solidFill>
                <a:latin typeface="Aptos"/>
              </a:rPr>
              <a:t>It is designed for cloud-native applications and microservices — </a:t>
            </a:r>
            <a:r>
              <a:rPr lang="en-GB" sz="1800" b="0" i="0" dirty="0" err="1">
                <a:solidFill>
                  <a:srgbClr val="6B6175"/>
                </a:solidFill>
                <a:latin typeface="Aptos"/>
              </a:rPr>
              <a:t>Quarkus</a:t>
            </a:r>
            <a:r>
              <a:rPr lang="en-GB" sz="1800" b="0" i="0" dirty="0">
                <a:solidFill>
                  <a:srgbClr val="6B6175"/>
                </a:solidFill>
                <a:latin typeface="Aptos"/>
              </a:rPr>
              <a:t> is a modern Java framework used by organisations building cloud-native applications and microservices.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703320"/>
            <a:ext cx="489204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Box 11"/>
          <p:cNvSpPr txBox="1">
            <a:spLocks/>
          </p:cNvSpPr>
          <p:nvPr/>
        </p:nvSpPr>
        <p:spPr>
          <a:xfrm>
            <a:off x="658368" y="3959352"/>
            <a:ext cx="48920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100" b="1" i="0">
                <a:solidFill>
                  <a:srgbClr val="E64072"/>
                </a:solidFill>
                <a:latin typeface="Aptos"/>
              </a:rPr>
              <a:t>INTERNAL LEARNING EMPHASIS</a:t>
            </a:r>
          </a:p>
        </p:txBody>
      </p:sp>
      <p:sp>
        <p:nvSpPr>
          <p:cNvPr id="13" name="TextBox 12"/>
          <p:cNvSpPr txBox="1">
            <a:spLocks/>
          </p:cNvSpPr>
          <p:nvPr/>
        </p:nvSpPr>
        <p:spPr>
          <a:xfrm>
            <a:off x="658368" y="4325112"/>
            <a:ext cx="4892040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700" b="0" i="0">
                <a:solidFill>
                  <a:srgbClr val="11152B"/>
                </a:solidFill>
                <a:latin typeface="Aptos"/>
              </a:rPr>
              <a:t>Fast startup, low memory footprint and cloud-native architecture are recurring themes in internal Quarkus learning sessions.</a:t>
            </a:r>
          </a:p>
        </p:txBody>
      </p:sp>
      <p:sp>
        <p:nvSpPr>
          <p:cNvPr id="14" name="TextBox 13"/>
          <p:cNvSpPr txBox="1">
            <a:spLocks/>
          </p:cNvSpPr>
          <p:nvPr/>
        </p:nvSpPr>
        <p:spPr>
          <a:xfrm>
            <a:off x="6144768" y="1755648"/>
            <a:ext cx="53492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200" b="1" i="0">
                <a:solidFill>
                  <a:srgbClr val="E64072"/>
                </a:solidFill>
                <a:latin typeface="Aptos"/>
              </a:rPr>
              <a:t>WHY TEAMS CHOOSE IT</a:t>
            </a:r>
          </a:p>
        </p:txBody>
      </p:sp>
      <p:sp>
        <p:nvSpPr>
          <p:cNvPr id="15" name="TextBox 14"/>
          <p:cNvSpPr txBox="1">
            <a:spLocks/>
          </p:cNvSpPr>
          <p:nvPr/>
        </p:nvSpPr>
        <p:spPr>
          <a:xfrm>
            <a:off x="6144768" y="2194560"/>
            <a:ext cx="41148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400" b="1" i="0">
                <a:solidFill>
                  <a:srgbClr val="FF6B6B"/>
                </a:solidFill>
                <a:latin typeface="Aptos"/>
              </a:rPr>
              <a:t>01</a:t>
            </a:r>
          </a:p>
        </p:txBody>
      </p:sp>
      <p:sp>
        <p:nvSpPr>
          <p:cNvPr id="16" name="TextBox 15"/>
          <p:cNvSpPr txBox="1">
            <a:spLocks/>
          </p:cNvSpPr>
          <p:nvPr/>
        </p:nvSpPr>
        <p:spPr>
          <a:xfrm>
            <a:off x="6656832" y="2194560"/>
            <a:ext cx="46177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800" b="1" i="0">
                <a:solidFill>
                  <a:srgbClr val="11152B"/>
                </a:solidFill>
                <a:latin typeface="Aptos"/>
              </a:rPr>
              <a:t>Fast to start</a:t>
            </a:r>
          </a:p>
        </p:txBody>
      </p:sp>
      <p:sp>
        <p:nvSpPr>
          <p:cNvPr id="17" name="TextBox 16"/>
          <p:cNvSpPr txBox="1">
            <a:spLocks/>
          </p:cNvSpPr>
          <p:nvPr/>
        </p:nvSpPr>
        <p:spPr>
          <a:xfrm>
            <a:off x="6656832" y="2532888"/>
            <a:ext cx="461772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350" b="0" i="0">
                <a:solidFill>
                  <a:srgbClr val="6B6175"/>
                </a:solidFill>
                <a:latin typeface="Aptos"/>
              </a:rPr>
              <a:t>Services can become ready quickly.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44768" y="2898648"/>
            <a:ext cx="5166360" cy="10972"/>
          </a:xfrm>
          <a:prstGeom prst="rect">
            <a:avLst/>
          </a:prstGeom>
          <a:solidFill>
            <a:srgbClr val="D8C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TextBox 18"/>
          <p:cNvSpPr txBox="1">
            <a:spLocks/>
          </p:cNvSpPr>
          <p:nvPr/>
        </p:nvSpPr>
        <p:spPr>
          <a:xfrm>
            <a:off x="6144768" y="3035808"/>
            <a:ext cx="41148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400" b="1" i="0">
                <a:solidFill>
                  <a:srgbClr val="FF6B6B"/>
                </a:solidFill>
                <a:latin typeface="Aptos"/>
              </a:rPr>
              <a:t>02</a:t>
            </a:r>
          </a:p>
        </p:txBody>
      </p:sp>
      <p:sp>
        <p:nvSpPr>
          <p:cNvPr id="20" name="TextBox 19"/>
          <p:cNvSpPr txBox="1">
            <a:spLocks/>
          </p:cNvSpPr>
          <p:nvPr/>
        </p:nvSpPr>
        <p:spPr>
          <a:xfrm>
            <a:off x="6656832" y="3035808"/>
            <a:ext cx="46177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800" b="1" i="0">
                <a:solidFill>
                  <a:srgbClr val="11152B"/>
                </a:solidFill>
                <a:latin typeface="Aptos"/>
              </a:rPr>
              <a:t>Lightweight</a:t>
            </a:r>
          </a:p>
        </p:txBody>
      </p:sp>
      <p:sp>
        <p:nvSpPr>
          <p:cNvPr id="21" name="TextBox 20"/>
          <p:cNvSpPr txBox="1">
            <a:spLocks/>
          </p:cNvSpPr>
          <p:nvPr/>
        </p:nvSpPr>
        <p:spPr>
          <a:xfrm>
            <a:off x="6656832" y="3374136"/>
            <a:ext cx="461772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350" b="0" i="0">
                <a:solidFill>
                  <a:srgbClr val="6B6175"/>
                </a:solidFill>
                <a:latin typeface="Aptos"/>
              </a:rPr>
              <a:t>Use platform resources efficiently.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739896"/>
            <a:ext cx="5166360" cy="10972"/>
          </a:xfrm>
          <a:prstGeom prst="rect">
            <a:avLst/>
          </a:prstGeom>
          <a:solidFill>
            <a:srgbClr val="D8C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144768" y="3877056"/>
            <a:ext cx="41148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FF6B6B"/>
                </a:solidFill>
                <a:latin typeface="Aptos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56832" y="3877056"/>
            <a:ext cx="46177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1152B"/>
                </a:solidFill>
                <a:latin typeface="Aptos"/>
              </a:rPr>
              <a:t>Cloud-native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56832" y="4215384"/>
            <a:ext cx="461772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 i="0">
                <a:solidFill>
                  <a:srgbClr val="6B6175"/>
                </a:solidFill>
                <a:latin typeface="Aptos"/>
              </a:rPr>
              <a:t>Fits containers and Kubernetes.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44768" y="4581144"/>
            <a:ext cx="5166360" cy="10972"/>
          </a:xfrm>
          <a:prstGeom prst="rect">
            <a:avLst/>
          </a:prstGeom>
          <a:solidFill>
            <a:srgbClr val="D8C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144768" y="4718304"/>
            <a:ext cx="41148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FF6B6B"/>
                </a:solidFill>
                <a:latin typeface="Aptos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56832" y="4718304"/>
            <a:ext cx="46177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1152B"/>
                </a:solidFill>
                <a:latin typeface="Aptos"/>
              </a:rPr>
              <a:t>Easy to develop and deploy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56832" y="5056632"/>
            <a:ext cx="461772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 i="0">
                <a:solidFill>
                  <a:srgbClr val="6B6175"/>
                </a:solidFill>
                <a:latin typeface="Aptos"/>
              </a:rPr>
              <a:t>Short feedback loops support delivery.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640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/>
          <p:cNvSpPr txBox="1">
            <a:spLocks/>
          </p:cNvSpPr>
          <p:nvPr/>
        </p:nvSpPr>
        <p:spPr>
          <a:xfrm>
            <a:off x="566928" y="329184"/>
            <a:ext cx="530352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100" b="1" i="0">
                <a:solidFill>
                  <a:srgbClr val="E64072"/>
                </a:solidFill>
                <a:latin typeface="Aptos"/>
              </a:rPr>
              <a:t>CORE CONCEPT</a:t>
            </a:r>
          </a:p>
        </p:txBody>
      </p:sp>
      <p:sp>
        <p:nvSpPr>
          <p:cNvPr id="4" name="TextBox 3"/>
          <p:cNvSpPr txBox="1">
            <a:spLocks/>
          </p:cNvSpPr>
          <p:nvPr/>
        </p:nvSpPr>
        <p:spPr>
          <a:xfrm>
            <a:off x="566928" y="630936"/>
            <a:ext cx="10972800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3000" b="1" i="0">
                <a:solidFill>
                  <a:srgbClr val="11152B"/>
                </a:solidFill>
                <a:latin typeface="Aptos Display"/>
              </a:rPr>
              <a:t>A microservice owns one business capability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07008"/>
            <a:ext cx="1097280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6B6175"/>
                </a:solidFill>
                <a:latin typeface="Aptos"/>
              </a:rPr>
              <a:t>Instead of one large application, smaller services work together through clear interfaces.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658368" y="1783080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200" b="1" i="0">
                <a:solidFill>
                  <a:srgbClr val="E64072"/>
                </a:solidFill>
                <a:latin typeface="Aptos"/>
              </a:rPr>
              <a:t>WHAT IT MEANS</a:t>
            </a:r>
          </a:p>
        </p:txBody>
      </p:sp>
      <p:sp>
        <p:nvSpPr>
          <p:cNvPr id="10" name="TextBox 9"/>
          <p:cNvSpPr txBox="1">
            <a:spLocks/>
          </p:cNvSpPr>
          <p:nvPr/>
        </p:nvSpPr>
        <p:spPr>
          <a:xfrm>
            <a:off x="658368" y="2176272"/>
            <a:ext cx="416052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2400" b="1" i="0">
                <a:solidFill>
                  <a:srgbClr val="11152B"/>
                </a:solidFill>
                <a:latin typeface="Aptos Display"/>
              </a:rPr>
              <a:t>A small application designed to perform a specific business capability.</a:t>
            </a:r>
          </a:p>
        </p:txBody>
      </p:sp>
      <p:sp>
        <p:nvSpPr>
          <p:cNvPr id="11" name="TextBox 10"/>
          <p:cNvSpPr txBox="1">
            <a:spLocks/>
          </p:cNvSpPr>
          <p:nvPr/>
        </p:nvSpPr>
        <p:spPr>
          <a:xfrm>
            <a:off x="658368" y="3401568"/>
            <a:ext cx="3886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200" b="1" i="0">
                <a:solidFill>
                  <a:srgbClr val="E64072"/>
                </a:solidFill>
                <a:latin typeface="Aptos"/>
              </a:rPr>
              <a:t>THINK OF IT AS</a:t>
            </a:r>
          </a:p>
        </p:txBody>
      </p:sp>
      <p:sp>
        <p:nvSpPr>
          <p:cNvPr id="12" name="TextBox 11"/>
          <p:cNvSpPr txBox="1">
            <a:spLocks/>
          </p:cNvSpPr>
          <p:nvPr/>
        </p:nvSpPr>
        <p:spPr>
          <a:xfrm>
            <a:off x="658368" y="3803904"/>
            <a:ext cx="3977639" cy="11704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800" b="0" i="0">
                <a:solidFill>
                  <a:srgbClr val="6B6175"/>
                </a:solidFill>
                <a:latin typeface="Aptos"/>
              </a:rPr>
              <a:t>One focused responsibility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800" b="0" i="0">
                <a:solidFill>
                  <a:srgbClr val="6B6175"/>
                </a:solidFill>
                <a:latin typeface="Aptos"/>
              </a:rPr>
              <a:t>One clear API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800" b="0" i="0">
                <a:solidFill>
                  <a:srgbClr val="6B6175"/>
                </a:solidFill>
                <a:latin typeface="Aptos"/>
              </a:rPr>
              <a:t>One independently changeable service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892040" y="1828800"/>
          <a:ext cx="6629399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13232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Aptos"/>
                        </a:rPr>
                        <a:t>Microservice</a:t>
                      </a:r>
                    </a:p>
                  </a:txBody>
                  <a:tcPr>
                    <a:solidFill>
                      <a:srgbClr val="5632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Aptos"/>
                        </a:rPr>
                        <a:t>Responsibility</a:t>
                      </a:r>
                    </a:p>
                  </a:txBody>
                  <a:tcPr>
                    <a:solidFill>
                      <a:srgbClr val="5632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52B"/>
                          </a:solidFill>
                          <a:latin typeface="Aptos"/>
                        </a:rPr>
                        <a:t>Customer Service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52B"/>
                          </a:solidFill>
                          <a:latin typeface="Aptos"/>
                        </a:rPr>
                        <a:t>Customer information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52B"/>
                          </a:solidFill>
                          <a:latin typeface="Aptos"/>
                        </a:rPr>
                        <a:t>Payments Service</a:t>
                      </a:r>
                    </a:p>
                  </a:txBody>
                  <a:tcPr>
                    <a:solidFill>
                      <a:srgbClr val="EE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52B"/>
                          </a:solidFill>
                          <a:latin typeface="Aptos"/>
                        </a:rPr>
                        <a:t>Payments</a:t>
                      </a:r>
                    </a:p>
                  </a:txBody>
                  <a:tcPr>
                    <a:solidFill>
                      <a:srgbClr val="EEE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52B"/>
                          </a:solidFill>
                          <a:latin typeface="Aptos"/>
                        </a:rPr>
                        <a:t>Notification Service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52B"/>
                          </a:solidFill>
                          <a:latin typeface="Aptos"/>
                        </a:rPr>
                        <a:t>Customer alerts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52B"/>
                          </a:solidFill>
                          <a:latin typeface="Aptos"/>
                        </a:rPr>
                        <a:t>Rewards Service</a:t>
                      </a:r>
                    </a:p>
                  </a:txBody>
                  <a:tcPr>
                    <a:solidFill>
                      <a:srgbClr val="EEE8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1152B"/>
                          </a:solidFill>
                          <a:latin typeface="Aptos"/>
                        </a:rPr>
                        <a:t>Loyalty rewards</a:t>
                      </a:r>
                    </a:p>
                  </a:txBody>
                  <a:tcPr>
                    <a:solidFill>
                      <a:srgbClr val="EEE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4892040" y="5650992"/>
            <a:ext cx="6629400" cy="512064"/>
          </a:xfrm>
          <a:prstGeom prst="rect">
            <a:avLst/>
          </a:prstGeom>
          <a:solidFill>
            <a:srgbClr val="EE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/>
          <p:cNvSpPr txBox="1">
            <a:spLocks/>
          </p:cNvSpPr>
          <p:nvPr/>
        </p:nvSpPr>
        <p:spPr>
          <a:xfrm>
            <a:off x="5148071" y="5769864"/>
            <a:ext cx="6629399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500" b="1" i="0" dirty="0">
                <a:solidFill>
                  <a:srgbClr val="5632A8"/>
                </a:solidFill>
                <a:latin typeface="Aptos"/>
              </a:rPr>
              <a:t>Many focused services can collaborate to deliver one customer journey.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640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/>
          <p:cNvSpPr txBox="1">
            <a:spLocks/>
          </p:cNvSpPr>
          <p:nvPr/>
        </p:nvSpPr>
        <p:spPr>
          <a:xfrm>
            <a:off x="566928" y="329184"/>
            <a:ext cx="530352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100" b="1" i="0">
                <a:solidFill>
                  <a:srgbClr val="E64072"/>
                </a:solidFill>
                <a:latin typeface="Aptos"/>
              </a:rPr>
              <a:t>WHY QUARKUS</a:t>
            </a:r>
          </a:p>
        </p:txBody>
      </p:sp>
      <p:sp>
        <p:nvSpPr>
          <p:cNvPr id="4" name="TextBox 3"/>
          <p:cNvSpPr txBox="1">
            <a:spLocks/>
          </p:cNvSpPr>
          <p:nvPr/>
        </p:nvSpPr>
        <p:spPr>
          <a:xfrm>
            <a:off x="566928" y="630936"/>
            <a:ext cx="10972800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GB" sz="3000" b="1">
                <a:solidFill>
                  <a:srgbClr val="11152B"/>
                </a:solidFill>
                <a:latin typeface="Aptos Display"/>
              </a:rPr>
              <a:t>Why Quarkus fits modern cloud delivery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07008"/>
            <a:ext cx="1097280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6B6175"/>
                </a:solidFill>
                <a:latin typeface="Aptos"/>
              </a:rPr>
              <a:t>Traditional Java is powerful; Quarkus focuses that power on fast, efficient delivery.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658368" y="1783080"/>
            <a:ext cx="3429000" cy="347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200" b="1" i="0">
                <a:solidFill>
                  <a:srgbClr val="E64072"/>
                </a:solidFill>
                <a:latin typeface="Aptos"/>
              </a:rPr>
              <a:t>FIVE PRACTICAL ADVANTAGES</a:t>
            </a:r>
          </a:p>
        </p:txBody>
      </p:sp>
      <p:sp>
        <p:nvSpPr>
          <p:cNvPr id="10" name="TextBox 9"/>
          <p:cNvSpPr txBox="1">
            <a:spLocks/>
          </p:cNvSpPr>
          <p:nvPr/>
        </p:nvSpPr>
        <p:spPr>
          <a:xfrm>
            <a:off x="658368" y="2221992"/>
            <a:ext cx="475488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2000" b="1" i="0">
                <a:solidFill>
                  <a:srgbClr val="FF6B6B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>
            <a:spLocks/>
          </p:cNvSpPr>
          <p:nvPr/>
        </p:nvSpPr>
        <p:spPr>
          <a:xfrm>
            <a:off x="1261872" y="2221992"/>
            <a:ext cx="461772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800" b="1" i="0">
                <a:solidFill>
                  <a:srgbClr val="11152B"/>
                </a:solidFill>
                <a:latin typeface="Aptos"/>
              </a:rPr>
              <a:t>Fast startup times</a:t>
            </a:r>
          </a:p>
        </p:txBody>
      </p:sp>
      <p:sp>
        <p:nvSpPr>
          <p:cNvPr id="12" name="TextBox 11"/>
          <p:cNvSpPr txBox="1">
            <a:spLocks/>
          </p:cNvSpPr>
          <p:nvPr/>
        </p:nvSpPr>
        <p:spPr>
          <a:xfrm>
            <a:off x="1261872" y="2606040"/>
            <a:ext cx="461772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400" b="0" i="0">
                <a:solidFill>
                  <a:srgbClr val="6B6175"/>
                </a:solidFill>
                <a:latin typeface="Aptos"/>
              </a:rPr>
              <a:t>Useful when services start or scale on demand.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3072384"/>
            <a:ext cx="5138928" cy="10972"/>
          </a:xfrm>
          <a:prstGeom prst="rect">
            <a:avLst/>
          </a:prstGeom>
          <a:solidFill>
            <a:srgbClr val="D8C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extBox 13"/>
          <p:cNvSpPr txBox="1">
            <a:spLocks/>
          </p:cNvSpPr>
          <p:nvPr/>
        </p:nvSpPr>
        <p:spPr>
          <a:xfrm>
            <a:off x="658368" y="3300984"/>
            <a:ext cx="475488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2000" b="1" i="0">
                <a:solidFill>
                  <a:srgbClr val="FF6B6B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>
            <a:spLocks/>
          </p:cNvSpPr>
          <p:nvPr/>
        </p:nvSpPr>
        <p:spPr>
          <a:xfrm>
            <a:off x="1261872" y="3300984"/>
            <a:ext cx="461772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800" b="1" i="0">
                <a:solidFill>
                  <a:srgbClr val="11152B"/>
                </a:solidFill>
                <a:latin typeface="Aptos"/>
              </a:rPr>
              <a:t>Low memory consumption</a:t>
            </a:r>
          </a:p>
        </p:txBody>
      </p:sp>
      <p:sp>
        <p:nvSpPr>
          <p:cNvPr id="16" name="TextBox 15"/>
          <p:cNvSpPr txBox="1">
            <a:spLocks/>
          </p:cNvSpPr>
          <p:nvPr/>
        </p:nvSpPr>
        <p:spPr>
          <a:xfrm>
            <a:off x="1261872" y="3685032"/>
            <a:ext cx="461772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400" b="0" i="0">
                <a:solidFill>
                  <a:srgbClr val="6B6175"/>
                </a:solidFill>
                <a:latin typeface="Aptos"/>
              </a:rPr>
              <a:t>More efficient use of shared cloud resources.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4151376"/>
            <a:ext cx="5138928" cy="10972"/>
          </a:xfrm>
          <a:prstGeom prst="rect">
            <a:avLst/>
          </a:prstGeom>
          <a:solidFill>
            <a:srgbClr val="D8C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extBox 17"/>
          <p:cNvSpPr txBox="1">
            <a:spLocks/>
          </p:cNvSpPr>
          <p:nvPr/>
        </p:nvSpPr>
        <p:spPr>
          <a:xfrm>
            <a:off x="658368" y="4379976"/>
            <a:ext cx="475488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2000" b="1" i="0">
                <a:solidFill>
                  <a:srgbClr val="FF6B6B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>
            <a:spLocks/>
          </p:cNvSpPr>
          <p:nvPr/>
        </p:nvSpPr>
        <p:spPr>
          <a:xfrm>
            <a:off x="1261872" y="4379976"/>
            <a:ext cx="461772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800" b="1" i="0">
                <a:solidFill>
                  <a:srgbClr val="11152B"/>
                </a:solidFill>
                <a:latin typeface="Aptos"/>
              </a:rPr>
              <a:t>Live coding experience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61872" y="4764024"/>
            <a:ext cx="461772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6B6175"/>
                </a:solidFill>
                <a:latin typeface="Aptos"/>
              </a:rPr>
              <a:t>Changes appear quickly during development.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5230368"/>
            <a:ext cx="5138928" cy="10972"/>
          </a:xfrm>
          <a:prstGeom prst="rect">
            <a:avLst/>
          </a:prstGeom>
          <a:solidFill>
            <a:srgbClr val="D8C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63640" y="2221992"/>
            <a:ext cx="475488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6B6B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67144" y="2221992"/>
            <a:ext cx="461772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1152B"/>
                </a:solidFill>
                <a:latin typeface="Aptos"/>
              </a:rPr>
              <a:t>Strong Kubernetes integration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67144" y="2606040"/>
            <a:ext cx="461772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6B6175"/>
                </a:solidFill>
                <a:latin typeface="Aptos"/>
              </a:rPr>
              <a:t>Designed for container orchestration.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3072384"/>
            <a:ext cx="5138928" cy="10972"/>
          </a:xfrm>
          <a:prstGeom prst="rect">
            <a:avLst/>
          </a:prstGeom>
          <a:solidFill>
            <a:srgbClr val="D8C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63640" y="3300984"/>
            <a:ext cx="475488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6B6B"/>
                </a:solidFill>
                <a:latin typeface="Aptos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67144" y="3300984"/>
            <a:ext cx="461772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1152B"/>
                </a:solidFill>
                <a:latin typeface="Aptos"/>
              </a:rPr>
              <a:t>Developer productivity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67144" y="3685032"/>
            <a:ext cx="461772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6B6175"/>
                </a:solidFill>
                <a:latin typeface="Aptos"/>
              </a:rPr>
              <a:t>A shorter path from edit to feedback.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63640" y="4151376"/>
            <a:ext cx="5138928" cy="10972"/>
          </a:xfrm>
          <a:prstGeom prst="rect">
            <a:avLst/>
          </a:prstGeom>
          <a:solidFill>
            <a:srgbClr val="D8C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263640" y="4517136"/>
            <a:ext cx="5138928" cy="960120"/>
          </a:xfrm>
          <a:prstGeom prst="rect">
            <a:avLst/>
          </a:prstGeom>
          <a:solidFill>
            <a:srgbClr val="111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556248" y="4745736"/>
            <a:ext cx="4590288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Aptos"/>
              </a:rPr>
              <a:t>Well suited to cloud environments and modern engineering practices.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640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/>
          <p:cNvSpPr txBox="1">
            <a:spLocks/>
          </p:cNvSpPr>
          <p:nvPr/>
        </p:nvSpPr>
        <p:spPr>
          <a:xfrm>
            <a:off x="566928" y="329184"/>
            <a:ext cx="530352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100" b="1" i="0">
                <a:solidFill>
                  <a:srgbClr val="E64072"/>
                </a:solidFill>
                <a:latin typeface="Aptos"/>
              </a:rPr>
              <a:t>DISCUSSION</a:t>
            </a:r>
          </a:p>
        </p:txBody>
      </p:sp>
      <p:sp>
        <p:nvSpPr>
          <p:cNvPr id="4" name="TextBox 3"/>
          <p:cNvSpPr txBox="1">
            <a:spLocks/>
          </p:cNvSpPr>
          <p:nvPr/>
        </p:nvSpPr>
        <p:spPr>
          <a:xfrm>
            <a:off x="566928" y="630936"/>
            <a:ext cx="10972800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3000" b="1" i="0">
                <a:solidFill>
                  <a:srgbClr val="11152B"/>
                </a:solidFill>
                <a:latin typeface="Aptos Display"/>
              </a:rPr>
              <a:t>Cloud-native thinking starts with the “why”</a:t>
            </a:r>
          </a:p>
        </p:txBody>
      </p:sp>
      <p:sp>
        <p:nvSpPr>
          <p:cNvPr id="5" name="TextBox 4"/>
          <p:cNvSpPr txBox="1">
            <a:spLocks/>
          </p:cNvSpPr>
          <p:nvPr/>
        </p:nvSpPr>
        <p:spPr>
          <a:xfrm>
            <a:off x="566928" y="1207008"/>
            <a:ext cx="1097280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500" b="0" i="0">
                <a:solidFill>
                  <a:srgbClr val="6B6175"/>
                </a:solidFill>
                <a:latin typeface="Aptos"/>
              </a:rPr>
              <a:t>Pause before coding. Discuss each question, then write down one clear answer.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685800" y="1783080"/>
            <a:ext cx="50292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600" b="1" i="0">
                <a:solidFill>
                  <a:srgbClr val="FF6B6B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>
            <a:spLocks/>
          </p:cNvSpPr>
          <p:nvPr/>
        </p:nvSpPr>
        <p:spPr>
          <a:xfrm>
            <a:off x="1353312" y="1783080"/>
            <a:ext cx="987552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2000" b="1" i="0">
                <a:solidFill>
                  <a:srgbClr val="11152B"/>
                </a:solidFill>
                <a:latin typeface="Aptos"/>
              </a:rPr>
              <a:t>Why might a bank want an application to start quickly?</a:t>
            </a:r>
          </a:p>
        </p:txBody>
      </p:sp>
      <p:sp>
        <p:nvSpPr>
          <p:cNvPr id="11" name="TextBox 10"/>
          <p:cNvSpPr txBox="1">
            <a:spLocks/>
          </p:cNvSpPr>
          <p:nvPr/>
        </p:nvSpPr>
        <p:spPr>
          <a:xfrm>
            <a:off x="1353312" y="2221991"/>
            <a:ext cx="164592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000" b="1" i="0">
                <a:solidFill>
                  <a:srgbClr val="E64072"/>
                </a:solidFill>
                <a:latin typeface="Aptos"/>
              </a:rPr>
              <a:t>YOUR ANSWER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53312" y="2560320"/>
            <a:ext cx="9921240" cy="10972"/>
          </a:xfrm>
          <a:prstGeom prst="rect">
            <a:avLst/>
          </a:prstGeom>
          <a:solidFill>
            <a:srgbClr val="D8C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/>
          <p:cNvSpPr/>
          <p:nvPr/>
        </p:nvSpPr>
        <p:spPr>
          <a:xfrm>
            <a:off x="1353312" y="2862072"/>
            <a:ext cx="9921240" cy="10972"/>
          </a:xfrm>
          <a:prstGeom prst="rect">
            <a:avLst/>
          </a:prstGeom>
          <a:solidFill>
            <a:srgbClr val="D8C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extBox 13"/>
          <p:cNvSpPr txBox="1">
            <a:spLocks/>
          </p:cNvSpPr>
          <p:nvPr/>
        </p:nvSpPr>
        <p:spPr>
          <a:xfrm>
            <a:off x="685800" y="3172968"/>
            <a:ext cx="50292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600" b="1" i="0">
                <a:solidFill>
                  <a:srgbClr val="FF6B6B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>
            <a:spLocks/>
          </p:cNvSpPr>
          <p:nvPr/>
        </p:nvSpPr>
        <p:spPr>
          <a:xfrm>
            <a:off x="1353312" y="3172968"/>
            <a:ext cx="987552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2000" b="1" i="0">
                <a:solidFill>
                  <a:srgbClr val="11152B"/>
                </a:solidFill>
                <a:latin typeface="Aptos"/>
              </a:rPr>
              <a:t>Why might lower memory usage save money?</a:t>
            </a:r>
          </a:p>
        </p:txBody>
      </p:sp>
      <p:sp>
        <p:nvSpPr>
          <p:cNvPr id="16" name="TextBox 15"/>
          <p:cNvSpPr txBox="1">
            <a:spLocks/>
          </p:cNvSpPr>
          <p:nvPr/>
        </p:nvSpPr>
        <p:spPr>
          <a:xfrm>
            <a:off x="1353312" y="3611879"/>
            <a:ext cx="164592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000" b="1" i="0">
                <a:solidFill>
                  <a:srgbClr val="E64072"/>
                </a:solidFill>
                <a:latin typeface="Aptos"/>
              </a:rPr>
              <a:t>YOUR ANSWER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53312" y="3950207"/>
            <a:ext cx="9921240" cy="10972"/>
          </a:xfrm>
          <a:prstGeom prst="rect">
            <a:avLst/>
          </a:prstGeom>
          <a:solidFill>
            <a:srgbClr val="D8C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tangle 17"/>
          <p:cNvSpPr/>
          <p:nvPr/>
        </p:nvSpPr>
        <p:spPr>
          <a:xfrm>
            <a:off x="1353312" y="4251959"/>
            <a:ext cx="9921240" cy="10972"/>
          </a:xfrm>
          <a:prstGeom prst="rect">
            <a:avLst/>
          </a:prstGeom>
          <a:solidFill>
            <a:srgbClr val="D8C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TextBox 18"/>
          <p:cNvSpPr txBox="1">
            <a:spLocks/>
          </p:cNvSpPr>
          <p:nvPr/>
        </p:nvSpPr>
        <p:spPr>
          <a:xfrm>
            <a:off x="685800" y="4562856"/>
            <a:ext cx="50292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600" b="1" i="0">
                <a:solidFill>
                  <a:srgbClr val="FF6B6B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>
            <a:spLocks/>
          </p:cNvSpPr>
          <p:nvPr/>
        </p:nvSpPr>
        <p:spPr>
          <a:xfrm>
            <a:off x="1353312" y="4562856"/>
            <a:ext cx="987552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2000" b="1" i="0">
                <a:solidFill>
                  <a:srgbClr val="11152B"/>
                </a:solidFill>
                <a:latin typeface="Aptos"/>
              </a:rPr>
              <a:t>What advantages might smaller services have over one large application?</a:t>
            </a:r>
          </a:p>
        </p:txBody>
      </p:sp>
      <p:sp>
        <p:nvSpPr>
          <p:cNvPr id="21" name="TextBox 20"/>
          <p:cNvSpPr txBox="1">
            <a:spLocks/>
          </p:cNvSpPr>
          <p:nvPr/>
        </p:nvSpPr>
        <p:spPr>
          <a:xfrm>
            <a:off x="1353312" y="5001768"/>
            <a:ext cx="164592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000" b="1" i="0">
                <a:solidFill>
                  <a:srgbClr val="E64072"/>
                </a:solidFill>
                <a:latin typeface="Aptos"/>
              </a:rPr>
              <a:t>YOUR ANSWER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353312" y="5340096"/>
            <a:ext cx="9921240" cy="10972"/>
          </a:xfrm>
          <a:prstGeom prst="rect">
            <a:avLst/>
          </a:prstGeom>
          <a:solidFill>
            <a:srgbClr val="D8C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Rectangle 22"/>
          <p:cNvSpPr/>
          <p:nvPr/>
        </p:nvSpPr>
        <p:spPr>
          <a:xfrm>
            <a:off x="1353312" y="5641848"/>
            <a:ext cx="9921240" cy="10972"/>
          </a:xfrm>
          <a:prstGeom prst="rect">
            <a:avLst/>
          </a:prstGeom>
          <a:solidFill>
            <a:srgbClr val="D8C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640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/>
          <p:cNvSpPr txBox="1">
            <a:spLocks/>
          </p:cNvSpPr>
          <p:nvPr/>
        </p:nvSpPr>
        <p:spPr>
          <a:xfrm>
            <a:off x="566928" y="320040"/>
            <a:ext cx="585216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100" b="1" i="0" u="none">
                <a:solidFill>
                  <a:srgbClr val="E64072"/>
                </a:solidFill>
                <a:latin typeface="Aptos"/>
              </a:rPr>
              <a:t>REQUIRED SETUP</a:t>
            </a:r>
          </a:p>
        </p:txBody>
      </p:sp>
      <p:sp>
        <p:nvSpPr>
          <p:cNvPr id="4" name="TextBox 3"/>
          <p:cNvSpPr txBox="1">
            <a:spLocks/>
          </p:cNvSpPr>
          <p:nvPr/>
        </p:nvSpPr>
        <p:spPr>
          <a:xfrm>
            <a:off x="566928" y="621792"/>
            <a:ext cx="11018520" cy="52120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3000" b="1" i="0" u="none">
                <a:solidFill>
                  <a:srgbClr val="11152B"/>
                </a:solidFill>
                <a:latin typeface="Aptos Display"/>
              </a:rPr>
              <a:t>Pre-flight check</a:t>
            </a:r>
          </a:p>
        </p:txBody>
      </p:sp>
      <p:sp>
        <p:nvSpPr>
          <p:cNvPr id="5" name="TextBox 4"/>
          <p:cNvSpPr txBox="1">
            <a:spLocks/>
          </p:cNvSpPr>
          <p:nvPr/>
        </p:nvSpPr>
        <p:spPr>
          <a:xfrm>
            <a:off x="566928" y="1197864"/>
            <a:ext cx="1097280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500" b="0" i="0" u="none">
                <a:solidFill>
                  <a:srgbClr val="6B6175"/>
                </a:solidFill>
                <a:latin typeface="Aptos"/>
              </a:rPr>
              <a:t>Run these checks before opening the Quarkus project generator.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746504"/>
            <a:ext cx="310896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050" b="1" i="0" u="none">
                <a:solidFill>
                  <a:srgbClr val="E64072"/>
                </a:solidFill>
                <a:latin typeface="Aptos"/>
              </a:rPr>
              <a:t>WINDOWS POWERSHELL</a:t>
            </a:r>
          </a:p>
        </p:txBody>
      </p:sp>
      <p:sp>
        <p:nvSpPr>
          <p:cNvPr id="7" name="TextBox 6"/>
          <p:cNvSpPr txBox="1">
            <a:spLocks/>
          </p:cNvSpPr>
          <p:nvPr/>
        </p:nvSpPr>
        <p:spPr>
          <a:xfrm>
            <a:off x="658368" y="2057400"/>
            <a:ext cx="310896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050" b="1" i="0" u="none">
                <a:solidFill>
                  <a:srgbClr val="E64072"/>
                </a:solidFill>
                <a:latin typeface="Aptos"/>
              </a:rPr>
              <a:t>COMMANDS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313432"/>
            <a:ext cx="5230368" cy="1234439"/>
          </a:xfrm>
          <a:prstGeom prst="rect">
            <a:avLst/>
          </a:prstGeom>
          <a:solidFill>
            <a:srgbClr val="111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877824" y="2478024"/>
            <a:ext cx="4791456" cy="103327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88000"/>
              </a:lnSpc>
              <a:spcAft>
                <a:spcPts val="0"/>
              </a:spcAft>
            </a:pPr>
            <a:r>
              <a:rPr lang="en-GB" sz="1600" b="0" i="0" u="none">
                <a:solidFill>
                  <a:srgbClr val="FFFFFF"/>
                </a:solidFill>
                <a:latin typeface="Aptos Mono"/>
              </a:rPr>
              <a:t>java --version</a:t>
            </a:r>
          </a:p>
          <a:p>
            <a:pPr algn="l">
              <a:lnSpc>
                <a:spcPct val="88000"/>
              </a:lnSpc>
              <a:spcAft>
                <a:spcPts val="0"/>
              </a:spcAft>
            </a:pPr>
            <a:r>
              <a:rPr lang="en-GB" sz="1600" b="0" i="0" u="none">
                <a:solidFill>
                  <a:srgbClr val="FFFFFF"/>
                </a:solidFill>
                <a:latin typeface="Aptos Mono"/>
              </a:rPr>
              <a:t>git --version</a:t>
            </a:r>
          </a:p>
        </p:txBody>
      </p:sp>
      <p:sp>
        <p:nvSpPr>
          <p:cNvPr id="10" name="TextBox 9"/>
          <p:cNvSpPr txBox="1">
            <a:spLocks/>
          </p:cNvSpPr>
          <p:nvPr/>
        </p:nvSpPr>
        <p:spPr>
          <a:xfrm>
            <a:off x="6309360" y="1746504"/>
            <a:ext cx="310896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050" b="1" i="0" u="none">
                <a:solidFill>
                  <a:srgbClr val="E64072"/>
                </a:solidFill>
                <a:latin typeface="Aptos"/>
              </a:rPr>
              <a:t>MACOS, LINUX OR GIT BASH</a:t>
            </a:r>
          </a:p>
        </p:txBody>
      </p:sp>
      <p:sp>
        <p:nvSpPr>
          <p:cNvPr id="11" name="TextBox 10"/>
          <p:cNvSpPr txBox="1">
            <a:spLocks/>
          </p:cNvSpPr>
          <p:nvPr/>
        </p:nvSpPr>
        <p:spPr>
          <a:xfrm>
            <a:off x="6309360" y="2057400"/>
            <a:ext cx="310896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050" b="1" i="0" u="none">
                <a:solidFill>
                  <a:srgbClr val="E64072"/>
                </a:solidFill>
                <a:latin typeface="Aptos"/>
              </a:rPr>
              <a:t>COMMANDS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2313432"/>
            <a:ext cx="5230368" cy="1234439"/>
          </a:xfrm>
          <a:prstGeom prst="rect">
            <a:avLst/>
          </a:prstGeom>
          <a:solidFill>
            <a:srgbClr val="111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/>
          <p:cNvSpPr txBox="1">
            <a:spLocks/>
          </p:cNvSpPr>
          <p:nvPr/>
        </p:nvSpPr>
        <p:spPr>
          <a:xfrm>
            <a:off x="6528816" y="2478024"/>
            <a:ext cx="4791456" cy="103327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88000"/>
              </a:lnSpc>
              <a:spcAft>
                <a:spcPts val="0"/>
              </a:spcAft>
            </a:pPr>
            <a:r>
              <a:rPr lang="en-GB" sz="1600" b="0" i="0" u="none">
                <a:solidFill>
                  <a:srgbClr val="FFFFFF"/>
                </a:solidFill>
                <a:latin typeface="Aptos Mono"/>
              </a:rPr>
              <a:t>java --version</a:t>
            </a:r>
          </a:p>
          <a:p>
            <a:pPr algn="l">
              <a:lnSpc>
                <a:spcPct val="88000"/>
              </a:lnSpc>
              <a:spcAft>
                <a:spcPts val="0"/>
              </a:spcAft>
            </a:pPr>
            <a:r>
              <a:rPr lang="en-GB" sz="1600" b="0" i="0" u="none">
                <a:solidFill>
                  <a:srgbClr val="FFFFFF"/>
                </a:solidFill>
                <a:latin typeface="Aptos Mono"/>
              </a:rPr>
              <a:t>git --version</a:t>
            </a:r>
          </a:p>
        </p:txBody>
      </p:sp>
      <p:sp>
        <p:nvSpPr>
          <p:cNvPr id="14" name="TextBox 13"/>
          <p:cNvSpPr txBox="1">
            <a:spLocks/>
          </p:cNvSpPr>
          <p:nvPr/>
        </p:nvSpPr>
        <p:spPr>
          <a:xfrm>
            <a:off x="658368" y="3877056"/>
            <a:ext cx="523036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100" b="1" i="0" u="none">
                <a:solidFill>
                  <a:srgbClr val="E64072"/>
                </a:solidFill>
                <a:latin typeface="Aptos"/>
              </a:rPr>
              <a:t>JAVA REQUIREMENT</a:t>
            </a:r>
          </a:p>
        </p:txBody>
      </p:sp>
      <p:sp>
        <p:nvSpPr>
          <p:cNvPr id="15" name="TextBox 14"/>
          <p:cNvSpPr txBox="1">
            <a:spLocks/>
          </p:cNvSpPr>
          <p:nvPr/>
        </p:nvSpPr>
        <p:spPr>
          <a:xfrm>
            <a:off x="658368" y="4251960"/>
            <a:ext cx="5230368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700" b="1" i="0" u="none">
                <a:solidFill>
                  <a:srgbClr val="11152B"/>
                </a:solidFill>
                <a:latin typeface="Aptos"/>
              </a:rPr>
              <a:t>Java 17 or newer is required. The version appears in the output from java --version.</a:t>
            </a:r>
          </a:p>
        </p:txBody>
      </p:sp>
      <p:sp>
        <p:nvSpPr>
          <p:cNvPr id="16" name="TextBox 15"/>
          <p:cNvSpPr txBox="1">
            <a:spLocks/>
          </p:cNvSpPr>
          <p:nvPr/>
        </p:nvSpPr>
        <p:spPr>
          <a:xfrm>
            <a:off x="6309360" y="3877056"/>
            <a:ext cx="523036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100" b="1" i="0" u="none">
                <a:solidFill>
                  <a:srgbClr val="E64072"/>
                </a:solidFill>
                <a:latin typeface="Aptos"/>
              </a:rPr>
              <a:t>FIRST BUILD</a:t>
            </a:r>
          </a:p>
        </p:txBody>
      </p:sp>
      <p:sp>
        <p:nvSpPr>
          <p:cNvPr id="17" name="TextBox 16"/>
          <p:cNvSpPr txBox="1">
            <a:spLocks/>
          </p:cNvSpPr>
          <p:nvPr/>
        </p:nvSpPr>
        <p:spPr>
          <a:xfrm>
            <a:off x="6309360" y="4251960"/>
            <a:ext cx="5230368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700" b="1" i="0" u="none">
                <a:solidFill>
                  <a:srgbClr val="11152B"/>
                </a:solidFill>
                <a:latin typeface="Aptos"/>
              </a:rPr>
              <a:t>Internet access is needed during the first build so Maven can download dependencies.</a:t>
            </a:r>
          </a:p>
        </p:txBody>
      </p:sp>
      <p:sp>
        <p:nvSpPr>
          <p:cNvPr id="18" name="Rectangle 17"/>
          <p:cNvSpPr>
            <a:spLocks/>
          </p:cNvSpPr>
          <p:nvPr/>
        </p:nvSpPr>
        <p:spPr>
          <a:xfrm>
            <a:off x="658368" y="5513832"/>
            <a:ext cx="10853928" cy="566928"/>
          </a:xfrm>
          <a:prstGeom prst="rect">
            <a:avLst/>
          </a:prstGeom>
          <a:solidFill>
            <a:srgbClr val="EE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TextBox 18"/>
          <p:cNvSpPr txBox="1">
            <a:spLocks/>
          </p:cNvSpPr>
          <p:nvPr/>
        </p:nvSpPr>
        <p:spPr>
          <a:xfrm>
            <a:off x="896112" y="5605272"/>
            <a:ext cx="1865376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050" b="1" i="0" u="none">
                <a:solidFill>
                  <a:srgbClr val="E64072"/>
                </a:solidFill>
                <a:latin typeface="Aptos"/>
              </a:rPr>
              <a:t>YOU ARE DONE WHEN…</a:t>
            </a:r>
          </a:p>
        </p:txBody>
      </p:sp>
      <p:sp>
        <p:nvSpPr>
          <p:cNvPr id="20" name="TextBox 19"/>
          <p:cNvSpPr txBox="1">
            <a:spLocks/>
          </p:cNvSpPr>
          <p:nvPr/>
        </p:nvSpPr>
        <p:spPr>
          <a:xfrm>
            <a:off x="2761488" y="5586984"/>
            <a:ext cx="8458200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450" b="1" i="0" u="none">
                <a:solidFill>
                  <a:srgbClr val="5632A8"/>
                </a:solidFill>
                <a:latin typeface="Aptos"/>
              </a:rPr>
              <a:t>Java 17 or newer is displayed.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640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/>
          <p:cNvSpPr txBox="1">
            <a:spLocks/>
          </p:cNvSpPr>
          <p:nvPr/>
        </p:nvSpPr>
        <p:spPr>
          <a:xfrm>
            <a:off x="566928" y="320040"/>
            <a:ext cx="585216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100" b="1" i="0" u="none">
                <a:solidFill>
                  <a:srgbClr val="E64072"/>
                </a:solidFill>
                <a:latin typeface="Aptos"/>
              </a:rPr>
              <a:t>REQUIRED ACTIVITY 1</a:t>
            </a:r>
          </a:p>
        </p:txBody>
      </p:sp>
      <p:sp>
        <p:nvSpPr>
          <p:cNvPr id="4" name="TextBox 3"/>
          <p:cNvSpPr txBox="1">
            <a:spLocks/>
          </p:cNvSpPr>
          <p:nvPr/>
        </p:nvSpPr>
        <p:spPr>
          <a:xfrm>
            <a:off x="566928" y="621792"/>
            <a:ext cx="11018520" cy="52120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3000" b="1" i="0" u="none">
                <a:solidFill>
                  <a:srgbClr val="11152B"/>
                </a:solidFill>
                <a:latin typeface="Aptos Display"/>
              </a:rPr>
              <a:t>Create your Quarkus project</a:t>
            </a:r>
          </a:p>
        </p:txBody>
      </p:sp>
      <p:sp>
        <p:nvSpPr>
          <p:cNvPr id="5" name="TextBox 4"/>
          <p:cNvSpPr txBox="1">
            <a:spLocks/>
          </p:cNvSpPr>
          <p:nvPr/>
        </p:nvSpPr>
        <p:spPr>
          <a:xfrm>
            <a:off x="566928" y="1197864"/>
            <a:ext cx="1097280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500" b="0" i="0" u="none">
                <a:solidFill>
                  <a:srgbClr val="6B6175"/>
                </a:solidFill>
                <a:latin typeface="Aptos"/>
              </a:rPr>
              <a:t>Use these exact settings in the project generator.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719072"/>
            <a:ext cx="310896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050" b="1" i="0" u="none">
                <a:solidFill>
                  <a:srgbClr val="E64072"/>
                </a:solidFill>
                <a:latin typeface="Aptos"/>
              </a:rPr>
              <a:t>PROJECT SETTINGS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2048256"/>
            <a:ext cx="1115568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400" b="1" i="0" u="none">
                <a:solidFill>
                  <a:srgbClr val="6B6175"/>
                </a:solidFill>
                <a:latin typeface="Aptos"/>
              </a:rPr>
              <a:t>Group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92807" y="2048256"/>
            <a:ext cx="2359152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500" b="1" i="0" u="none">
                <a:solidFill>
                  <a:srgbClr val="11152B"/>
                </a:solidFill>
                <a:latin typeface="Aptos Mono"/>
              </a:rPr>
              <a:t>org.workshop</a:t>
            </a:r>
          </a:p>
        </p:txBody>
      </p:sp>
      <p:sp>
        <p:nvSpPr>
          <p:cNvPr id="9" name="Rectangle 8"/>
          <p:cNvSpPr>
            <a:spLocks/>
          </p:cNvSpPr>
          <p:nvPr/>
        </p:nvSpPr>
        <p:spPr>
          <a:xfrm>
            <a:off x="694944" y="2395728"/>
            <a:ext cx="3584448" cy="10972"/>
          </a:xfrm>
          <a:prstGeom prst="rect">
            <a:avLst/>
          </a:prstGeom>
          <a:solidFill>
            <a:srgbClr val="D8C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/>
          <p:cNvSpPr txBox="1">
            <a:spLocks/>
          </p:cNvSpPr>
          <p:nvPr/>
        </p:nvSpPr>
        <p:spPr>
          <a:xfrm>
            <a:off x="694944" y="2560320"/>
            <a:ext cx="1115568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400" b="1" i="0" u="none">
                <a:solidFill>
                  <a:srgbClr val="6B6175"/>
                </a:solidFill>
                <a:latin typeface="Aptos"/>
              </a:rPr>
              <a:t>Artifact</a:t>
            </a:r>
          </a:p>
        </p:txBody>
      </p:sp>
      <p:sp>
        <p:nvSpPr>
          <p:cNvPr id="11" name="TextBox 10"/>
          <p:cNvSpPr txBox="1">
            <a:spLocks/>
          </p:cNvSpPr>
          <p:nvPr/>
        </p:nvSpPr>
        <p:spPr>
          <a:xfrm>
            <a:off x="1892807" y="2560320"/>
            <a:ext cx="2359152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500" b="1" i="0" u="none">
                <a:solidFill>
                  <a:srgbClr val="11152B"/>
                </a:solidFill>
                <a:latin typeface="Aptos Mono"/>
              </a:rPr>
              <a:t>quarkus-build-day</a:t>
            </a:r>
          </a:p>
        </p:txBody>
      </p:sp>
      <p:sp>
        <p:nvSpPr>
          <p:cNvPr id="12" name="Rectangle 11"/>
          <p:cNvSpPr>
            <a:spLocks/>
          </p:cNvSpPr>
          <p:nvPr/>
        </p:nvSpPr>
        <p:spPr>
          <a:xfrm>
            <a:off x="694944" y="2907792"/>
            <a:ext cx="3584448" cy="10972"/>
          </a:xfrm>
          <a:prstGeom prst="rect">
            <a:avLst/>
          </a:prstGeom>
          <a:solidFill>
            <a:srgbClr val="D8C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/>
          <p:cNvSpPr txBox="1">
            <a:spLocks/>
          </p:cNvSpPr>
          <p:nvPr/>
        </p:nvSpPr>
        <p:spPr>
          <a:xfrm>
            <a:off x="694944" y="3072384"/>
            <a:ext cx="1115568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400" b="1" i="0" u="none">
                <a:solidFill>
                  <a:srgbClr val="6B6175"/>
                </a:solidFill>
                <a:latin typeface="Aptos"/>
              </a:rPr>
              <a:t>Build Tool</a:t>
            </a:r>
          </a:p>
        </p:txBody>
      </p:sp>
      <p:sp>
        <p:nvSpPr>
          <p:cNvPr id="14" name="TextBox 13"/>
          <p:cNvSpPr txBox="1">
            <a:spLocks/>
          </p:cNvSpPr>
          <p:nvPr/>
        </p:nvSpPr>
        <p:spPr>
          <a:xfrm>
            <a:off x="1892807" y="3072384"/>
            <a:ext cx="2359152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500" b="1" i="0" u="none">
                <a:solidFill>
                  <a:srgbClr val="11152B"/>
                </a:solidFill>
                <a:latin typeface="Aptos Mono"/>
              </a:rPr>
              <a:t>Maven</a:t>
            </a:r>
          </a:p>
        </p:txBody>
      </p:sp>
      <p:sp>
        <p:nvSpPr>
          <p:cNvPr id="15" name="Rectangle 14"/>
          <p:cNvSpPr>
            <a:spLocks/>
          </p:cNvSpPr>
          <p:nvPr/>
        </p:nvSpPr>
        <p:spPr>
          <a:xfrm>
            <a:off x="694944" y="3419856"/>
            <a:ext cx="3584448" cy="10972"/>
          </a:xfrm>
          <a:prstGeom prst="rect">
            <a:avLst/>
          </a:prstGeom>
          <a:solidFill>
            <a:srgbClr val="D8C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TextBox 15"/>
          <p:cNvSpPr txBox="1">
            <a:spLocks/>
          </p:cNvSpPr>
          <p:nvPr/>
        </p:nvSpPr>
        <p:spPr>
          <a:xfrm>
            <a:off x="694944" y="3584448"/>
            <a:ext cx="1115568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400" b="1" i="0" u="none">
                <a:solidFill>
                  <a:srgbClr val="6B6175"/>
                </a:solidFill>
                <a:latin typeface="Aptos"/>
              </a:rPr>
              <a:t>Java</a:t>
            </a:r>
          </a:p>
        </p:txBody>
      </p:sp>
      <p:sp>
        <p:nvSpPr>
          <p:cNvPr id="17" name="TextBox 16"/>
          <p:cNvSpPr txBox="1">
            <a:spLocks/>
          </p:cNvSpPr>
          <p:nvPr/>
        </p:nvSpPr>
        <p:spPr>
          <a:xfrm>
            <a:off x="1892807" y="3584448"/>
            <a:ext cx="2359152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500" b="1" i="0" u="none">
                <a:solidFill>
                  <a:srgbClr val="11152B"/>
                </a:solidFill>
                <a:latin typeface="Aptos Mono"/>
              </a:rPr>
              <a:t>17 or newer</a:t>
            </a:r>
          </a:p>
        </p:txBody>
      </p:sp>
      <p:sp>
        <p:nvSpPr>
          <p:cNvPr id="18" name="Rectangle 17"/>
          <p:cNvSpPr>
            <a:spLocks/>
          </p:cNvSpPr>
          <p:nvPr/>
        </p:nvSpPr>
        <p:spPr>
          <a:xfrm>
            <a:off x="694944" y="3931920"/>
            <a:ext cx="3584448" cy="10972"/>
          </a:xfrm>
          <a:prstGeom prst="rect">
            <a:avLst/>
          </a:prstGeom>
          <a:solidFill>
            <a:srgbClr val="D8C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TextBox 18"/>
          <p:cNvSpPr txBox="1">
            <a:spLocks/>
          </p:cNvSpPr>
          <p:nvPr/>
        </p:nvSpPr>
        <p:spPr>
          <a:xfrm>
            <a:off x="4608576" y="1719072"/>
            <a:ext cx="310896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050" b="1" i="0" u="none">
                <a:solidFill>
                  <a:srgbClr val="E64072"/>
                </a:solidFill>
                <a:latin typeface="Aptos"/>
              </a:rPr>
              <a:t>EXTENSIONS</a:t>
            </a:r>
          </a:p>
        </p:txBody>
      </p:sp>
      <p:sp>
        <p:nvSpPr>
          <p:cNvPr id="20" name="Rectangle 19"/>
          <p:cNvSpPr>
            <a:spLocks/>
          </p:cNvSpPr>
          <p:nvPr/>
        </p:nvSpPr>
        <p:spPr>
          <a:xfrm>
            <a:off x="4608576" y="2075688"/>
            <a:ext cx="182880" cy="182880"/>
          </a:xfrm>
          <a:prstGeom prst="rect">
            <a:avLst/>
          </a:prstGeom>
          <a:noFill/>
          <a:ln w="16510">
            <a:solidFill>
              <a:srgbClr val="563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TextBox 20"/>
          <p:cNvSpPr txBox="1"/>
          <p:nvPr/>
        </p:nvSpPr>
        <p:spPr>
          <a:xfrm>
            <a:off x="4910328" y="2048256"/>
            <a:ext cx="2697479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 u="none">
                <a:solidFill>
                  <a:srgbClr val="11152B"/>
                </a:solidFill>
                <a:latin typeface="Aptos"/>
              </a:rPr>
              <a:t>REST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08576" y="2578608"/>
            <a:ext cx="182880" cy="182880"/>
          </a:xfrm>
          <a:prstGeom prst="rect">
            <a:avLst/>
          </a:prstGeom>
          <a:noFill/>
          <a:ln w="16510">
            <a:solidFill>
              <a:srgbClr val="563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910328" y="2551176"/>
            <a:ext cx="2697479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 u="none">
                <a:solidFill>
                  <a:srgbClr val="11152B"/>
                </a:solidFill>
                <a:latin typeface="Aptos"/>
              </a:rPr>
              <a:t>REST Jackson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08576" y="3081528"/>
            <a:ext cx="182880" cy="182880"/>
          </a:xfrm>
          <a:prstGeom prst="rect">
            <a:avLst/>
          </a:prstGeom>
          <a:noFill/>
          <a:ln w="16510">
            <a:solidFill>
              <a:srgbClr val="563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910328" y="3054096"/>
            <a:ext cx="2697479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 u="none">
                <a:solidFill>
                  <a:srgbClr val="11152B"/>
                </a:solidFill>
                <a:latin typeface="Aptos"/>
              </a:rPr>
              <a:t>SmallRye Health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08576" y="3584448"/>
            <a:ext cx="182880" cy="182880"/>
          </a:xfrm>
          <a:prstGeom prst="rect">
            <a:avLst/>
          </a:prstGeom>
          <a:noFill/>
          <a:ln w="16510">
            <a:solidFill>
              <a:srgbClr val="563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910328" y="3557016"/>
            <a:ext cx="2697479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 u="none">
                <a:solidFill>
                  <a:srgbClr val="11152B"/>
                </a:solidFill>
                <a:latin typeface="Aptos"/>
              </a:rPr>
              <a:t>SmallRye OpenAPI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4251960"/>
            <a:ext cx="310896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 u="none">
                <a:solidFill>
                  <a:srgbClr val="E64072"/>
                </a:solidFill>
                <a:latin typeface="Aptos"/>
              </a:rPr>
              <a:t>STEPS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4" y="4599432"/>
            <a:ext cx="329184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 u="none">
                <a:solidFill>
                  <a:srgbClr val="FF6B6B"/>
                </a:solidFill>
                <a:latin typeface="Aptos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8992" y="4599432"/>
            <a:ext cx="1408176" cy="438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 u="none">
                <a:solidFill>
                  <a:srgbClr val="11152B"/>
                </a:solidFill>
                <a:latin typeface="Aptos"/>
              </a:rPr>
              <a:t>Generate the project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60320" y="4599432"/>
            <a:ext cx="329184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 u="none">
                <a:solidFill>
                  <a:srgbClr val="FF6B6B"/>
                </a:solidFill>
                <a:latin typeface="Aptos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44368" y="4599432"/>
            <a:ext cx="1408176" cy="438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 u="none">
                <a:solidFill>
                  <a:srgbClr val="11152B"/>
                </a:solidFill>
                <a:latin typeface="Aptos"/>
              </a:rPr>
              <a:t>Download the ZIP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25696" y="4599432"/>
            <a:ext cx="329184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 u="none">
                <a:solidFill>
                  <a:srgbClr val="FF6B6B"/>
                </a:solidFill>
                <a:latin typeface="Aptos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09744" y="4599432"/>
            <a:ext cx="1408176" cy="438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 u="none">
                <a:solidFill>
                  <a:srgbClr val="11152B"/>
                </a:solidFill>
                <a:latin typeface="Aptos"/>
              </a:rPr>
              <a:t>Unzip it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91072" y="4599432"/>
            <a:ext cx="329184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 u="none">
                <a:solidFill>
                  <a:srgbClr val="FF6B6B"/>
                </a:solidFill>
                <a:latin typeface="Aptos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75120" y="4599432"/>
            <a:ext cx="1408176" cy="438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 u="none">
                <a:solidFill>
                  <a:srgbClr val="11152B"/>
                </a:solidFill>
                <a:latin typeface="Aptos"/>
              </a:rPr>
              <a:t>Open the folder in your IDE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90288" y="1193292"/>
            <a:ext cx="3035808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GB" sz="1600" b="1" u="sng" dirty="0">
                <a:solidFill>
                  <a:srgbClr val="5632A8"/>
                </a:solidFill>
                <a:latin typeface="Aptos Mono"/>
              </a:rPr>
              <a:t>https://code.quarkus.io/</a:t>
            </a:r>
            <a:endParaRPr sz="1600" b="1" i="0" u="sng" dirty="0">
              <a:solidFill>
                <a:srgbClr val="5632A8"/>
              </a:solidFill>
              <a:latin typeface="Aptos Mono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658368" y="5513832"/>
            <a:ext cx="10853928" cy="566928"/>
          </a:xfrm>
          <a:prstGeom prst="rect">
            <a:avLst/>
          </a:prstGeom>
          <a:solidFill>
            <a:srgbClr val="EE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96112" y="5605272"/>
            <a:ext cx="1865376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 u="none">
                <a:solidFill>
                  <a:srgbClr val="E64072"/>
                </a:solidFill>
                <a:latin typeface="Aptos"/>
              </a:rPr>
              <a:t>YOU ARE DONE WHEN…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61488" y="5586984"/>
            <a:ext cx="8458200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 i="0" u="none">
                <a:solidFill>
                  <a:srgbClr val="5632A8"/>
                </a:solidFill>
                <a:latin typeface="Aptos"/>
              </a:rPr>
              <a:t>The project is open and pom.xml is visible.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640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/>
          <p:cNvSpPr txBox="1">
            <a:spLocks/>
          </p:cNvSpPr>
          <p:nvPr/>
        </p:nvSpPr>
        <p:spPr>
          <a:xfrm>
            <a:off x="566928" y="320040"/>
            <a:ext cx="585216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100" b="1" i="0" u="none">
                <a:solidFill>
                  <a:srgbClr val="E64072"/>
                </a:solidFill>
                <a:latin typeface="Aptos"/>
              </a:rPr>
              <a:t>REQUIRED ACTIVITY 2</a:t>
            </a:r>
          </a:p>
        </p:txBody>
      </p:sp>
      <p:sp>
        <p:nvSpPr>
          <p:cNvPr id="4" name="TextBox 3"/>
          <p:cNvSpPr txBox="1">
            <a:spLocks/>
          </p:cNvSpPr>
          <p:nvPr/>
        </p:nvSpPr>
        <p:spPr>
          <a:xfrm>
            <a:off x="566928" y="621792"/>
            <a:ext cx="11018520" cy="52120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3000" b="1" i="0" u="none">
                <a:solidFill>
                  <a:srgbClr val="11152B"/>
                </a:solidFill>
                <a:latin typeface="Aptos Display"/>
              </a:rPr>
              <a:t>Run the application in Dev Mode</a:t>
            </a:r>
          </a:p>
        </p:txBody>
      </p:sp>
      <p:sp>
        <p:nvSpPr>
          <p:cNvPr id="5" name="TextBox 4"/>
          <p:cNvSpPr txBox="1">
            <a:spLocks/>
          </p:cNvSpPr>
          <p:nvPr/>
        </p:nvSpPr>
        <p:spPr>
          <a:xfrm>
            <a:off x="566928" y="1197864"/>
            <a:ext cx="1097280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500" b="0" i="0" u="none">
                <a:solidFill>
                  <a:srgbClr val="6B6175"/>
                </a:solidFill>
                <a:latin typeface="Aptos"/>
              </a:rPr>
              <a:t>Run the command from the project root — the folder that contains pom.xml.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310896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050" b="1" i="0" u="none">
                <a:solidFill>
                  <a:srgbClr val="E64072"/>
                </a:solidFill>
                <a:latin typeface="Aptos"/>
              </a:rPr>
              <a:t>WINDOWS POWERSHELL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2039112"/>
            <a:ext cx="5230368" cy="1042415"/>
          </a:xfrm>
          <a:prstGeom prst="rect">
            <a:avLst/>
          </a:prstGeom>
          <a:solidFill>
            <a:srgbClr val="111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77824" y="2203704"/>
            <a:ext cx="4791456" cy="84124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88000"/>
              </a:lnSpc>
              <a:spcAft>
                <a:spcPts val="0"/>
              </a:spcAft>
            </a:pPr>
            <a:r>
              <a:rPr lang="en-GB" sz="1600" b="0" i="0" u="none">
                <a:solidFill>
                  <a:srgbClr val="FFFFFF"/>
                </a:solidFill>
                <a:latin typeface="Aptos Mono"/>
              </a:rPr>
              <a:t>.\mvnw.cmd quarkus:dev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6309360" y="1783080"/>
            <a:ext cx="310896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050" b="1" i="0" u="none">
                <a:solidFill>
                  <a:srgbClr val="E64072"/>
                </a:solidFill>
                <a:latin typeface="Aptos"/>
              </a:rPr>
              <a:t>MACOS, LINUX OR GIT BASH</a:t>
            </a:r>
          </a:p>
        </p:txBody>
      </p:sp>
      <p:sp>
        <p:nvSpPr>
          <p:cNvPr id="10" name="Rectangle 9"/>
          <p:cNvSpPr>
            <a:spLocks/>
          </p:cNvSpPr>
          <p:nvPr/>
        </p:nvSpPr>
        <p:spPr>
          <a:xfrm>
            <a:off x="6309360" y="2039112"/>
            <a:ext cx="5230368" cy="1042415"/>
          </a:xfrm>
          <a:prstGeom prst="rect">
            <a:avLst/>
          </a:prstGeom>
          <a:solidFill>
            <a:srgbClr val="111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/>
          <p:cNvSpPr txBox="1">
            <a:spLocks/>
          </p:cNvSpPr>
          <p:nvPr/>
        </p:nvSpPr>
        <p:spPr>
          <a:xfrm>
            <a:off x="6528816" y="2203704"/>
            <a:ext cx="4791456" cy="84124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88000"/>
              </a:lnSpc>
              <a:spcAft>
                <a:spcPts val="0"/>
              </a:spcAft>
            </a:pPr>
            <a:r>
              <a:rPr lang="en-GB" sz="1600" b="0" i="0" u="none">
                <a:solidFill>
                  <a:srgbClr val="FFFFFF"/>
                </a:solidFill>
                <a:latin typeface="Aptos Mono"/>
              </a:rPr>
              <a:t>./mvnw quarkus:dev</a:t>
            </a:r>
          </a:p>
        </p:txBody>
      </p:sp>
      <p:sp>
        <p:nvSpPr>
          <p:cNvPr id="12" name="TextBox 11"/>
          <p:cNvSpPr txBox="1">
            <a:spLocks/>
          </p:cNvSpPr>
          <p:nvPr/>
        </p:nvSpPr>
        <p:spPr>
          <a:xfrm>
            <a:off x="658368" y="3410712"/>
            <a:ext cx="310896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050" b="1" i="0" u="none">
                <a:solidFill>
                  <a:srgbClr val="E64072"/>
                </a:solidFill>
                <a:latin typeface="Aptos"/>
              </a:rPr>
              <a:t>WHILE YOU WORK</a:t>
            </a:r>
          </a:p>
        </p:txBody>
      </p:sp>
      <p:sp>
        <p:nvSpPr>
          <p:cNvPr id="13" name="TextBox 12"/>
          <p:cNvSpPr txBox="1">
            <a:spLocks/>
          </p:cNvSpPr>
          <p:nvPr/>
        </p:nvSpPr>
        <p:spPr>
          <a:xfrm>
            <a:off x="658368" y="3749039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400" b="1" i="0" u="none">
                <a:solidFill>
                  <a:srgbClr val="FF6B6B"/>
                </a:solidFill>
                <a:latin typeface="Aptos"/>
              </a:rPr>
              <a:t>01</a:t>
            </a:r>
          </a:p>
        </p:txBody>
      </p:sp>
      <p:sp>
        <p:nvSpPr>
          <p:cNvPr id="14" name="TextBox 13"/>
          <p:cNvSpPr txBox="1">
            <a:spLocks/>
          </p:cNvSpPr>
          <p:nvPr/>
        </p:nvSpPr>
        <p:spPr>
          <a:xfrm>
            <a:off x="1225295" y="3749039"/>
            <a:ext cx="46634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700" b="1" i="0" u="none">
                <a:solidFill>
                  <a:srgbClr val="11152B"/>
                </a:solidFill>
                <a:latin typeface="Aptos"/>
              </a:rPr>
              <a:t>Keep this terminal running</a:t>
            </a:r>
          </a:p>
        </p:txBody>
      </p:sp>
      <p:sp>
        <p:nvSpPr>
          <p:cNvPr id="15" name="TextBox 14"/>
          <p:cNvSpPr txBox="1">
            <a:spLocks/>
          </p:cNvSpPr>
          <p:nvPr/>
        </p:nvSpPr>
        <p:spPr>
          <a:xfrm>
            <a:off x="1225295" y="4078224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350" b="0" i="0" u="none">
                <a:solidFill>
                  <a:srgbClr val="6B6175"/>
                </a:solidFill>
                <a:latin typeface="Aptos"/>
              </a:rPr>
              <a:t>Dev Mode watches the project for saved changes.</a:t>
            </a:r>
          </a:p>
        </p:txBody>
      </p:sp>
      <p:sp>
        <p:nvSpPr>
          <p:cNvPr id="16" name="TextBox 15"/>
          <p:cNvSpPr txBox="1">
            <a:spLocks/>
          </p:cNvSpPr>
          <p:nvPr/>
        </p:nvSpPr>
        <p:spPr>
          <a:xfrm>
            <a:off x="6309360" y="3749039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400" b="1" i="0" u="none">
                <a:solidFill>
                  <a:srgbClr val="FF6B6B"/>
                </a:solidFill>
                <a:latin typeface="Aptos"/>
              </a:rPr>
              <a:t>02</a:t>
            </a:r>
          </a:p>
        </p:txBody>
      </p:sp>
      <p:sp>
        <p:nvSpPr>
          <p:cNvPr id="17" name="TextBox 16"/>
          <p:cNvSpPr txBox="1">
            <a:spLocks/>
          </p:cNvSpPr>
          <p:nvPr/>
        </p:nvSpPr>
        <p:spPr>
          <a:xfrm>
            <a:off x="6876288" y="3749039"/>
            <a:ext cx="46634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700" b="1" i="0" u="none">
                <a:solidFill>
                  <a:srgbClr val="11152B"/>
                </a:solidFill>
                <a:latin typeface="Aptos"/>
              </a:rPr>
              <a:t>Stop with Ctrl+C</a:t>
            </a:r>
          </a:p>
        </p:txBody>
      </p:sp>
      <p:sp>
        <p:nvSpPr>
          <p:cNvPr id="18" name="TextBox 17"/>
          <p:cNvSpPr txBox="1">
            <a:spLocks/>
          </p:cNvSpPr>
          <p:nvPr/>
        </p:nvSpPr>
        <p:spPr>
          <a:xfrm>
            <a:off x="6876288" y="4078224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350" b="0" i="0" u="none">
                <a:solidFill>
                  <a:srgbClr val="6B6175"/>
                </a:solidFill>
                <a:latin typeface="Aptos"/>
              </a:rPr>
              <a:t>Press Ctrl+C in this terminal when the workshop is finished.</a:t>
            </a:r>
          </a:p>
        </p:txBody>
      </p:sp>
      <p:sp>
        <p:nvSpPr>
          <p:cNvPr id="19" name="Rectangle 18"/>
          <p:cNvSpPr>
            <a:spLocks/>
          </p:cNvSpPr>
          <p:nvPr/>
        </p:nvSpPr>
        <p:spPr>
          <a:xfrm>
            <a:off x="658368" y="4864608"/>
            <a:ext cx="10853928" cy="402336"/>
          </a:xfrm>
          <a:prstGeom prst="rect">
            <a:avLst/>
          </a:prstGeom>
          <a:solidFill>
            <a:srgbClr val="111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TextBox 19"/>
          <p:cNvSpPr txBox="1">
            <a:spLocks/>
          </p:cNvSpPr>
          <p:nvPr/>
        </p:nvSpPr>
        <p:spPr>
          <a:xfrm>
            <a:off x="914400" y="4956048"/>
            <a:ext cx="1033272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GB" sz="1300" b="1" i="0" u="none">
                <a:solidFill>
                  <a:srgbClr val="FFFFFF"/>
                </a:solidFill>
                <a:latin typeface="Aptos"/>
              </a:rPr>
              <a:t>EXPECTED RESULT  •  Quarkus starts and reports that HTTP is listening on port 8080.</a:t>
            </a:r>
          </a:p>
        </p:txBody>
      </p:sp>
      <p:sp>
        <p:nvSpPr>
          <p:cNvPr id="21" name="Rectangle 20"/>
          <p:cNvSpPr>
            <a:spLocks/>
          </p:cNvSpPr>
          <p:nvPr/>
        </p:nvSpPr>
        <p:spPr>
          <a:xfrm>
            <a:off x="658368" y="5513832"/>
            <a:ext cx="10853928" cy="566928"/>
          </a:xfrm>
          <a:prstGeom prst="rect">
            <a:avLst/>
          </a:prstGeom>
          <a:solidFill>
            <a:srgbClr val="EE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TextBox 21"/>
          <p:cNvSpPr txBox="1">
            <a:spLocks/>
          </p:cNvSpPr>
          <p:nvPr/>
        </p:nvSpPr>
        <p:spPr>
          <a:xfrm>
            <a:off x="896112" y="5605272"/>
            <a:ext cx="1865376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050" b="1" i="0" u="none">
                <a:solidFill>
                  <a:srgbClr val="E64072"/>
                </a:solidFill>
                <a:latin typeface="Aptos"/>
              </a:rPr>
              <a:t>YOU ARE DONE WHEN…</a:t>
            </a:r>
          </a:p>
        </p:txBody>
      </p:sp>
      <p:sp>
        <p:nvSpPr>
          <p:cNvPr id="23" name="TextBox 22"/>
          <p:cNvSpPr txBox="1">
            <a:spLocks/>
          </p:cNvSpPr>
          <p:nvPr/>
        </p:nvSpPr>
        <p:spPr>
          <a:xfrm>
            <a:off x="2761488" y="5586984"/>
            <a:ext cx="8458200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450" b="1" i="0" u="none">
                <a:solidFill>
                  <a:srgbClr val="5632A8"/>
                </a:solidFill>
                <a:latin typeface="Aptos"/>
              </a:rPr>
              <a:t>The application is listening on port 8080.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640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/>
          <p:cNvSpPr txBox="1">
            <a:spLocks/>
          </p:cNvSpPr>
          <p:nvPr/>
        </p:nvSpPr>
        <p:spPr>
          <a:xfrm>
            <a:off x="566928" y="320040"/>
            <a:ext cx="585216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100" b="1" i="0" u="none">
                <a:solidFill>
                  <a:srgbClr val="E64072"/>
                </a:solidFill>
                <a:latin typeface="Aptos"/>
              </a:rPr>
              <a:t>REQUIRED ACTIVITY 3</a:t>
            </a:r>
          </a:p>
        </p:txBody>
      </p:sp>
      <p:sp>
        <p:nvSpPr>
          <p:cNvPr id="4" name="TextBox 3"/>
          <p:cNvSpPr txBox="1">
            <a:spLocks/>
          </p:cNvSpPr>
          <p:nvPr/>
        </p:nvSpPr>
        <p:spPr>
          <a:xfrm>
            <a:off x="566928" y="621792"/>
            <a:ext cx="11018520" cy="52120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3000" b="1" i="0" u="none">
                <a:solidFill>
                  <a:srgbClr val="11152B"/>
                </a:solidFill>
                <a:latin typeface="Aptos Display"/>
              </a:rPr>
              <a:t>Explore the generated project</a:t>
            </a:r>
          </a:p>
        </p:txBody>
      </p:sp>
      <p:sp>
        <p:nvSpPr>
          <p:cNvPr id="5" name="TextBox 4"/>
          <p:cNvSpPr txBox="1">
            <a:spLocks/>
          </p:cNvSpPr>
          <p:nvPr/>
        </p:nvSpPr>
        <p:spPr>
          <a:xfrm>
            <a:off x="566928" y="1197864"/>
            <a:ext cx="1097280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500" b="0" i="0" u="none">
                <a:solidFill>
                  <a:srgbClr val="6B6175"/>
                </a:solidFill>
                <a:latin typeface="Aptos"/>
              </a:rPr>
              <a:t>Find each file and say what role it plays in the application.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746504"/>
            <a:ext cx="310896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050" b="1" i="0" u="none">
                <a:solidFill>
                  <a:srgbClr val="E64072"/>
                </a:solidFill>
                <a:latin typeface="Aptos"/>
              </a:rPr>
              <a:t>FILE OR FOLDER</a:t>
            </a:r>
          </a:p>
        </p:txBody>
      </p:sp>
      <p:sp>
        <p:nvSpPr>
          <p:cNvPr id="7" name="TextBox 6"/>
          <p:cNvSpPr txBox="1">
            <a:spLocks/>
          </p:cNvSpPr>
          <p:nvPr/>
        </p:nvSpPr>
        <p:spPr>
          <a:xfrm>
            <a:off x="694944" y="2075688"/>
            <a:ext cx="1874519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500" b="1" i="0" u="none">
                <a:solidFill>
                  <a:srgbClr val="11152B"/>
                </a:solidFill>
                <a:latin typeface="Aptos"/>
              </a:rPr>
              <a:t>REST resource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24912" y="2075688"/>
            <a:ext cx="8101583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400" b="1" i="0" u="none">
                <a:solidFill>
                  <a:srgbClr val="5632A8"/>
                </a:solidFill>
                <a:latin typeface="Aptos Mono"/>
              </a:rPr>
              <a:t>src/main/java/org/workshop/GreetingResource.java</a:t>
            </a:r>
          </a:p>
        </p:txBody>
      </p:sp>
      <p:sp>
        <p:nvSpPr>
          <p:cNvPr id="9" name="Rectangle 8"/>
          <p:cNvSpPr>
            <a:spLocks/>
          </p:cNvSpPr>
          <p:nvPr/>
        </p:nvSpPr>
        <p:spPr>
          <a:xfrm>
            <a:off x="694944" y="2468880"/>
            <a:ext cx="10332720" cy="10972"/>
          </a:xfrm>
          <a:prstGeom prst="rect">
            <a:avLst/>
          </a:prstGeom>
          <a:solidFill>
            <a:srgbClr val="D8C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/>
          <p:cNvSpPr txBox="1">
            <a:spLocks/>
          </p:cNvSpPr>
          <p:nvPr/>
        </p:nvSpPr>
        <p:spPr>
          <a:xfrm>
            <a:off x="694944" y="2679192"/>
            <a:ext cx="1874519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500" b="1" i="0" u="none">
                <a:solidFill>
                  <a:srgbClr val="11152B"/>
                </a:solidFill>
                <a:latin typeface="Aptos"/>
              </a:rPr>
              <a:t>Configuration</a:t>
            </a:r>
          </a:p>
        </p:txBody>
      </p:sp>
      <p:sp>
        <p:nvSpPr>
          <p:cNvPr id="11" name="TextBox 10"/>
          <p:cNvSpPr txBox="1">
            <a:spLocks/>
          </p:cNvSpPr>
          <p:nvPr/>
        </p:nvSpPr>
        <p:spPr>
          <a:xfrm>
            <a:off x="2724912" y="2679192"/>
            <a:ext cx="8101583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400" b="1" i="0" u="none">
                <a:solidFill>
                  <a:srgbClr val="5632A8"/>
                </a:solidFill>
                <a:latin typeface="Aptos Mono"/>
              </a:rPr>
              <a:t>src/main/resources/application.properties</a:t>
            </a:r>
          </a:p>
        </p:txBody>
      </p:sp>
      <p:sp>
        <p:nvSpPr>
          <p:cNvPr id="12" name="Rectangle 11"/>
          <p:cNvSpPr>
            <a:spLocks/>
          </p:cNvSpPr>
          <p:nvPr/>
        </p:nvSpPr>
        <p:spPr>
          <a:xfrm>
            <a:off x="694944" y="3072384"/>
            <a:ext cx="10332720" cy="10972"/>
          </a:xfrm>
          <a:prstGeom prst="rect">
            <a:avLst/>
          </a:prstGeom>
          <a:solidFill>
            <a:srgbClr val="D8C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/>
          <p:cNvSpPr txBox="1">
            <a:spLocks/>
          </p:cNvSpPr>
          <p:nvPr/>
        </p:nvSpPr>
        <p:spPr>
          <a:xfrm>
            <a:off x="694944" y="3282696"/>
            <a:ext cx="1874519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500" b="1" i="0" u="none">
                <a:solidFill>
                  <a:srgbClr val="11152B"/>
                </a:solidFill>
                <a:latin typeface="Aptos"/>
              </a:rPr>
              <a:t>Tests</a:t>
            </a:r>
          </a:p>
        </p:txBody>
      </p:sp>
      <p:sp>
        <p:nvSpPr>
          <p:cNvPr id="14" name="TextBox 13"/>
          <p:cNvSpPr txBox="1">
            <a:spLocks/>
          </p:cNvSpPr>
          <p:nvPr/>
        </p:nvSpPr>
        <p:spPr>
          <a:xfrm>
            <a:off x="2724912" y="3282696"/>
            <a:ext cx="8101583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400" b="1" i="0" u="none">
                <a:solidFill>
                  <a:srgbClr val="5632A8"/>
                </a:solidFill>
                <a:latin typeface="Aptos Mono"/>
              </a:rPr>
              <a:t>src/test/java/org/workshop/GreetingResourceTest.java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4944" y="3675887"/>
            <a:ext cx="10332720" cy="10972"/>
          </a:xfrm>
          <a:prstGeom prst="rect">
            <a:avLst/>
          </a:prstGeom>
          <a:solidFill>
            <a:srgbClr val="D8C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94944" y="3886200"/>
            <a:ext cx="1874519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500" b="1" i="0" u="none">
                <a:solidFill>
                  <a:srgbClr val="11152B"/>
                </a:solidFill>
                <a:latin typeface="Aptos"/>
              </a:rPr>
              <a:t>Dockerfiles</a:t>
            </a:r>
          </a:p>
        </p:txBody>
      </p:sp>
      <p:sp>
        <p:nvSpPr>
          <p:cNvPr id="17" name="TextBox 16"/>
          <p:cNvSpPr txBox="1">
            <a:spLocks/>
          </p:cNvSpPr>
          <p:nvPr/>
        </p:nvSpPr>
        <p:spPr>
          <a:xfrm>
            <a:off x="2724912" y="3886200"/>
            <a:ext cx="8101583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400" b="1" i="0" u="none">
                <a:solidFill>
                  <a:srgbClr val="5632A8"/>
                </a:solidFill>
                <a:latin typeface="Aptos Mono"/>
              </a:rPr>
              <a:t>src/main/docker/</a:t>
            </a:r>
          </a:p>
        </p:txBody>
      </p:sp>
      <p:sp>
        <p:nvSpPr>
          <p:cNvPr id="18" name="Rectangle 17"/>
          <p:cNvSpPr>
            <a:spLocks/>
          </p:cNvSpPr>
          <p:nvPr/>
        </p:nvSpPr>
        <p:spPr>
          <a:xfrm>
            <a:off x="694944" y="4279392"/>
            <a:ext cx="10332720" cy="10972"/>
          </a:xfrm>
          <a:prstGeom prst="rect">
            <a:avLst/>
          </a:prstGeom>
          <a:solidFill>
            <a:srgbClr val="D8C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TextBox 18"/>
          <p:cNvSpPr txBox="1">
            <a:spLocks/>
          </p:cNvSpPr>
          <p:nvPr/>
        </p:nvSpPr>
        <p:spPr>
          <a:xfrm>
            <a:off x="694944" y="4489704"/>
            <a:ext cx="1874519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500" b="1" i="0" u="none">
                <a:solidFill>
                  <a:srgbClr val="11152B"/>
                </a:solidFill>
                <a:latin typeface="Aptos"/>
              </a:rPr>
              <a:t>pom.xml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24912" y="4489704"/>
            <a:ext cx="8101583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400" b="1" i="0" u="none">
                <a:solidFill>
                  <a:srgbClr val="5632A8"/>
                </a:solidFill>
                <a:latin typeface="Aptos Mono"/>
              </a:rPr>
              <a:t>Project root</a:t>
            </a:r>
          </a:p>
        </p:txBody>
      </p:sp>
      <p:sp>
        <p:nvSpPr>
          <p:cNvPr id="21" name="Rectangle 20"/>
          <p:cNvSpPr>
            <a:spLocks/>
          </p:cNvSpPr>
          <p:nvPr/>
        </p:nvSpPr>
        <p:spPr>
          <a:xfrm>
            <a:off x="694944" y="4882896"/>
            <a:ext cx="10332720" cy="10972"/>
          </a:xfrm>
          <a:prstGeom prst="rect">
            <a:avLst/>
          </a:prstGeom>
          <a:solidFill>
            <a:srgbClr val="D8C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Rectangle 21"/>
          <p:cNvSpPr>
            <a:spLocks/>
          </p:cNvSpPr>
          <p:nvPr/>
        </p:nvSpPr>
        <p:spPr>
          <a:xfrm>
            <a:off x="694944" y="5193792"/>
            <a:ext cx="10259568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TextBox 22"/>
          <p:cNvSpPr txBox="1"/>
          <p:nvPr/>
        </p:nvSpPr>
        <p:spPr>
          <a:xfrm>
            <a:off x="859536" y="5248656"/>
            <a:ext cx="9948672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250" b="0" i="1" u="none">
                <a:solidFill>
                  <a:srgbClr val="6B6175"/>
                </a:solidFill>
                <a:latin typeface="Aptos"/>
              </a:rPr>
              <a:t>Note: the package folder may differ if you entered a different Group value.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5513832"/>
            <a:ext cx="10853928" cy="566928"/>
          </a:xfrm>
          <a:prstGeom prst="rect">
            <a:avLst/>
          </a:prstGeom>
          <a:solidFill>
            <a:srgbClr val="EE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96112" y="5605272"/>
            <a:ext cx="1865376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 u="none">
                <a:solidFill>
                  <a:srgbClr val="E64072"/>
                </a:solidFill>
                <a:latin typeface="Aptos"/>
              </a:rPr>
              <a:t>YOU ARE DONE WHEN…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61488" y="5586984"/>
            <a:ext cx="8458200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 i="0" u="none">
                <a:solidFill>
                  <a:srgbClr val="5632A8"/>
                </a:solidFill>
                <a:latin typeface="Aptos"/>
              </a:rPr>
              <a:t>You can locate all five items and explain what each is for.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640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/>
          <p:cNvSpPr txBox="1">
            <a:spLocks/>
          </p:cNvSpPr>
          <p:nvPr/>
        </p:nvSpPr>
        <p:spPr>
          <a:xfrm>
            <a:off x="566928" y="320040"/>
            <a:ext cx="585216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100" b="1" i="0" u="none">
                <a:solidFill>
                  <a:srgbClr val="E64072"/>
                </a:solidFill>
                <a:latin typeface="Aptos"/>
              </a:rPr>
              <a:t>REQUIRED ACTIVITY 4</a:t>
            </a:r>
          </a:p>
        </p:txBody>
      </p:sp>
      <p:sp>
        <p:nvSpPr>
          <p:cNvPr id="4" name="TextBox 3"/>
          <p:cNvSpPr txBox="1">
            <a:spLocks/>
          </p:cNvSpPr>
          <p:nvPr/>
        </p:nvSpPr>
        <p:spPr>
          <a:xfrm>
            <a:off x="566928" y="621792"/>
            <a:ext cx="11018520" cy="52120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3000" b="1" i="0" u="none">
                <a:solidFill>
                  <a:srgbClr val="11152B"/>
                </a:solidFill>
                <a:latin typeface="Aptos Display"/>
              </a:rPr>
              <a:t>Open the application in your browser</a:t>
            </a:r>
          </a:p>
        </p:txBody>
      </p:sp>
      <p:sp>
        <p:nvSpPr>
          <p:cNvPr id="5" name="TextBox 4"/>
          <p:cNvSpPr txBox="1">
            <a:spLocks/>
          </p:cNvSpPr>
          <p:nvPr/>
        </p:nvSpPr>
        <p:spPr>
          <a:xfrm>
            <a:off x="566928" y="1197864"/>
            <a:ext cx="1097280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500" b="0" i="0" u="none">
                <a:solidFill>
                  <a:srgbClr val="6B6175"/>
                </a:solidFill>
                <a:latin typeface="Aptos"/>
              </a:rPr>
              <a:t>Use these exact URLs while Dev Mode is running.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310896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050" b="1" i="0" u="none">
                <a:solidFill>
                  <a:srgbClr val="E64072"/>
                </a:solidFill>
                <a:latin typeface="Aptos"/>
              </a:rPr>
              <a:t>APPLICATION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139696"/>
            <a:ext cx="5138928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600" b="1" i="0" u="sng">
                <a:solidFill>
                  <a:srgbClr val="5632A8"/>
                </a:solidFill>
                <a:latin typeface="Aptos Mono"/>
              </a:rPr>
              <a:t>http://localhost:8080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587752"/>
            <a:ext cx="5138928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400" b="0" i="0" u="none">
                <a:solidFill>
                  <a:srgbClr val="6B6175"/>
                </a:solidFill>
                <a:latin typeface="Aptos"/>
              </a:rPr>
              <a:t>The application root may be blank or show a default page.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6217920" y="1783080"/>
            <a:ext cx="310896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050" b="1" i="0" u="none">
                <a:solidFill>
                  <a:srgbClr val="E64072"/>
                </a:solidFill>
                <a:latin typeface="Aptos"/>
              </a:rPr>
              <a:t>GREETING ENDPOINT</a:t>
            </a:r>
          </a:p>
        </p:txBody>
      </p:sp>
      <p:sp>
        <p:nvSpPr>
          <p:cNvPr id="10" name="TextBox 9"/>
          <p:cNvSpPr txBox="1">
            <a:spLocks/>
          </p:cNvSpPr>
          <p:nvPr/>
        </p:nvSpPr>
        <p:spPr>
          <a:xfrm>
            <a:off x="6217920" y="2139696"/>
            <a:ext cx="5138928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600" b="1" i="0" u="sng">
                <a:solidFill>
                  <a:srgbClr val="5632A8"/>
                </a:solidFill>
                <a:latin typeface="Aptos Mono"/>
              </a:rPr>
              <a:t>http://localhost:8080/hello</a:t>
            </a:r>
          </a:p>
        </p:txBody>
      </p:sp>
      <p:sp>
        <p:nvSpPr>
          <p:cNvPr id="11" name="TextBox 10"/>
          <p:cNvSpPr txBox="1">
            <a:spLocks/>
          </p:cNvSpPr>
          <p:nvPr/>
        </p:nvSpPr>
        <p:spPr>
          <a:xfrm>
            <a:off x="6217920" y="2587752"/>
            <a:ext cx="5138928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050" b="1" i="0" u="none">
                <a:solidFill>
                  <a:srgbClr val="E64072"/>
                </a:solidFill>
                <a:latin typeface="Aptos"/>
              </a:rPr>
              <a:t>EXPECTED INITIAL GREETING</a:t>
            </a:r>
          </a:p>
        </p:txBody>
      </p:sp>
      <p:sp>
        <p:nvSpPr>
          <p:cNvPr id="12" name="Rectangle 11"/>
          <p:cNvSpPr>
            <a:spLocks/>
          </p:cNvSpPr>
          <p:nvPr/>
        </p:nvSpPr>
        <p:spPr>
          <a:xfrm>
            <a:off x="6217920" y="2980944"/>
            <a:ext cx="5138928" cy="1005840"/>
          </a:xfrm>
          <a:prstGeom prst="rect">
            <a:avLst/>
          </a:prstGeom>
          <a:solidFill>
            <a:srgbClr val="111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/>
          <p:cNvSpPr txBox="1">
            <a:spLocks/>
          </p:cNvSpPr>
          <p:nvPr/>
        </p:nvSpPr>
        <p:spPr>
          <a:xfrm>
            <a:off x="6510528" y="3273552"/>
            <a:ext cx="4553712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GB" sz="1800" b="0" i="0" u="none">
                <a:solidFill>
                  <a:srgbClr val="FFFFFF"/>
                </a:solidFill>
                <a:latin typeface="Aptos Mono"/>
              </a:rPr>
              <a:t>Hello from Quarkus REST</a:t>
            </a:r>
          </a:p>
        </p:txBody>
      </p:sp>
      <p:sp>
        <p:nvSpPr>
          <p:cNvPr id="14" name="TextBox 13"/>
          <p:cNvSpPr txBox="1">
            <a:spLocks/>
          </p:cNvSpPr>
          <p:nvPr/>
        </p:nvSpPr>
        <p:spPr>
          <a:xfrm>
            <a:off x="658368" y="4297680"/>
            <a:ext cx="310896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050" b="1" i="0" u="none">
                <a:solidFill>
                  <a:srgbClr val="E64072"/>
                </a:solidFill>
                <a:latin typeface="Aptos"/>
              </a:rPr>
              <a:t>STEPS</a:t>
            </a:r>
          </a:p>
        </p:txBody>
      </p:sp>
      <p:sp>
        <p:nvSpPr>
          <p:cNvPr id="15" name="TextBox 14"/>
          <p:cNvSpPr txBox="1">
            <a:spLocks/>
          </p:cNvSpPr>
          <p:nvPr/>
        </p:nvSpPr>
        <p:spPr>
          <a:xfrm>
            <a:off x="658368" y="4636008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400" b="1" i="0" u="none">
                <a:solidFill>
                  <a:srgbClr val="FF6B6B"/>
                </a:solidFill>
                <a:latin typeface="Aptos"/>
              </a:rPr>
              <a:t>01</a:t>
            </a:r>
          </a:p>
        </p:txBody>
      </p:sp>
      <p:sp>
        <p:nvSpPr>
          <p:cNvPr id="16" name="TextBox 15"/>
          <p:cNvSpPr txBox="1">
            <a:spLocks/>
          </p:cNvSpPr>
          <p:nvPr/>
        </p:nvSpPr>
        <p:spPr>
          <a:xfrm>
            <a:off x="1225295" y="463600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700" b="1" i="0" u="none">
                <a:solidFill>
                  <a:srgbClr val="11152B"/>
                </a:solidFill>
                <a:latin typeface="Aptos"/>
              </a:rPr>
              <a:t>Open both URLs</a:t>
            </a:r>
          </a:p>
        </p:txBody>
      </p:sp>
      <p:sp>
        <p:nvSpPr>
          <p:cNvPr id="17" name="TextBox 16"/>
          <p:cNvSpPr txBox="1">
            <a:spLocks/>
          </p:cNvSpPr>
          <p:nvPr/>
        </p:nvSpPr>
        <p:spPr>
          <a:xfrm>
            <a:off x="1225295" y="4965192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350" b="0" i="0" u="none">
                <a:solidFill>
                  <a:srgbClr val="6B6175"/>
                </a:solidFill>
                <a:latin typeface="Aptos"/>
              </a:rPr>
              <a:t>Keep the greeting tab open for the next activity.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5513832"/>
            <a:ext cx="10853928" cy="566928"/>
          </a:xfrm>
          <a:prstGeom prst="rect">
            <a:avLst/>
          </a:prstGeom>
          <a:solidFill>
            <a:srgbClr val="EE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TextBox 18"/>
          <p:cNvSpPr txBox="1">
            <a:spLocks/>
          </p:cNvSpPr>
          <p:nvPr/>
        </p:nvSpPr>
        <p:spPr>
          <a:xfrm>
            <a:off x="896112" y="5605272"/>
            <a:ext cx="1865376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050" b="1" i="0" u="none">
                <a:solidFill>
                  <a:srgbClr val="E64072"/>
                </a:solidFill>
                <a:latin typeface="Aptos"/>
              </a:rPr>
              <a:t>YOU ARE DONE WHEN…</a:t>
            </a:r>
          </a:p>
        </p:txBody>
      </p:sp>
      <p:sp>
        <p:nvSpPr>
          <p:cNvPr id="20" name="TextBox 19"/>
          <p:cNvSpPr txBox="1">
            <a:spLocks/>
          </p:cNvSpPr>
          <p:nvPr/>
        </p:nvSpPr>
        <p:spPr>
          <a:xfrm>
            <a:off x="2761488" y="5586984"/>
            <a:ext cx="8458200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450" b="1" i="0" u="none">
                <a:solidFill>
                  <a:srgbClr val="5632A8"/>
                </a:solidFill>
                <a:latin typeface="Aptos"/>
              </a:rPr>
              <a:t>The greeting endpoint displays “Hello from Quarkus REST”.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640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/>
          <p:cNvSpPr txBox="1">
            <a:spLocks/>
          </p:cNvSpPr>
          <p:nvPr/>
        </p:nvSpPr>
        <p:spPr>
          <a:xfrm>
            <a:off x="566928" y="320040"/>
            <a:ext cx="585216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100" b="1" i="0" u="none">
                <a:solidFill>
                  <a:srgbClr val="E64072"/>
                </a:solidFill>
                <a:latin typeface="Aptos"/>
              </a:rPr>
              <a:t>REQUIRED ACTIVITY 5</a:t>
            </a:r>
          </a:p>
        </p:txBody>
      </p:sp>
      <p:sp>
        <p:nvSpPr>
          <p:cNvPr id="4" name="TextBox 3"/>
          <p:cNvSpPr txBox="1">
            <a:spLocks/>
          </p:cNvSpPr>
          <p:nvPr/>
        </p:nvSpPr>
        <p:spPr>
          <a:xfrm>
            <a:off x="566928" y="621792"/>
            <a:ext cx="11018520" cy="52120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3000" b="1" i="0" u="none">
                <a:solidFill>
                  <a:srgbClr val="11152B"/>
                </a:solidFill>
                <a:latin typeface="Aptos Display"/>
              </a:rPr>
              <a:t>Change the greeting with live reload</a:t>
            </a:r>
          </a:p>
        </p:txBody>
      </p:sp>
      <p:sp>
        <p:nvSpPr>
          <p:cNvPr id="5" name="TextBox 4"/>
          <p:cNvSpPr txBox="1">
            <a:spLocks/>
          </p:cNvSpPr>
          <p:nvPr/>
        </p:nvSpPr>
        <p:spPr>
          <a:xfrm>
            <a:off x="566928" y="1197864"/>
            <a:ext cx="1097280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500" b="0" i="0" u="none">
                <a:solidFill>
                  <a:srgbClr val="6B6175"/>
                </a:solidFill>
                <a:latin typeface="Aptos"/>
              </a:rPr>
              <a:t>Make one small edit and confirm that Quarkus updates without restarting.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773936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400" b="1" i="0" u="none">
                <a:solidFill>
                  <a:srgbClr val="FF6B6B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>
            <a:spLocks/>
          </p:cNvSpPr>
          <p:nvPr/>
        </p:nvSpPr>
        <p:spPr>
          <a:xfrm>
            <a:off x="1225295" y="1773936"/>
            <a:ext cx="4599432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700" b="1" i="0" u="none">
                <a:solidFill>
                  <a:srgbClr val="11152B"/>
                </a:solidFill>
                <a:latin typeface="Aptos"/>
              </a:rPr>
              <a:t>Open GreetingResource.java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25295" y="2103120"/>
            <a:ext cx="4599432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350" b="0" i="0" u="none">
                <a:solidFill>
                  <a:srgbClr val="6B6175"/>
                </a:solidFill>
                <a:latin typeface="Aptos"/>
              </a:rPr>
              <a:t>Use the exact path from the previous slide.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658368" y="2871215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400" b="1" i="0" u="none">
                <a:solidFill>
                  <a:srgbClr val="FF6B6B"/>
                </a:solidFill>
                <a:latin typeface="Aptos"/>
              </a:rPr>
              <a:t>02</a:t>
            </a:r>
          </a:p>
        </p:txBody>
      </p:sp>
      <p:sp>
        <p:nvSpPr>
          <p:cNvPr id="10" name="TextBox 9"/>
          <p:cNvSpPr txBox="1">
            <a:spLocks/>
          </p:cNvSpPr>
          <p:nvPr/>
        </p:nvSpPr>
        <p:spPr>
          <a:xfrm>
            <a:off x="1225295" y="2871215"/>
            <a:ext cx="4599432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700" b="1" i="0" u="none">
                <a:solidFill>
                  <a:srgbClr val="11152B"/>
                </a:solidFill>
                <a:latin typeface="Aptos"/>
              </a:rPr>
              <a:t>Find the returned greeting</a:t>
            </a:r>
          </a:p>
        </p:txBody>
      </p:sp>
      <p:sp>
        <p:nvSpPr>
          <p:cNvPr id="11" name="TextBox 10"/>
          <p:cNvSpPr txBox="1">
            <a:spLocks/>
          </p:cNvSpPr>
          <p:nvPr/>
        </p:nvSpPr>
        <p:spPr>
          <a:xfrm>
            <a:off x="1225295" y="3200399"/>
            <a:ext cx="4599432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350" b="0" i="0" u="none">
                <a:solidFill>
                  <a:srgbClr val="6B6175"/>
                </a:solidFill>
                <a:latin typeface="Aptos"/>
              </a:rPr>
              <a:t>Look for “Hello from Quarkus REST”.</a:t>
            </a:r>
          </a:p>
        </p:txBody>
      </p:sp>
      <p:sp>
        <p:nvSpPr>
          <p:cNvPr id="12" name="TextBox 11"/>
          <p:cNvSpPr txBox="1">
            <a:spLocks/>
          </p:cNvSpPr>
          <p:nvPr/>
        </p:nvSpPr>
        <p:spPr>
          <a:xfrm>
            <a:off x="658368" y="3968496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400" b="1" i="0" u="none">
                <a:solidFill>
                  <a:srgbClr val="FF6B6B"/>
                </a:solidFill>
                <a:latin typeface="Aptos"/>
              </a:rPr>
              <a:t>03</a:t>
            </a:r>
          </a:p>
        </p:txBody>
      </p:sp>
      <p:sp>
        <p:nvSpPr>
          <p:cNvPr id="13" name="TextBox 12"/>
          <p:cNvSpPr txBox="1">
            <a:spLocks/>
          </p:cNvSpPr>
          <p:nvPr/>
        </p:nvSpPr>
        <p:spPr>
          <a:xfrm>
            <a:off x="1225295" y="3968496"/>
            <a:ext cx="4599432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700" b="1" i="0" u="none">
                <a:solidFill>
                  <a:srgbClr val="11152B"/>
                </a:solidFill>
                <a:latin typeface="Aptos"/>
              </a:rPr>
              <a:t>Change the text</a:t>
            </a:r>
          </a:p>
        </p:txBody>
      </p:sp>
      <p:sp>
        <p:nvSpPr>
          <p:cNvPr id="14" name="TextBox 13"/>
          <p:cNvSpPr txBox="1">
            <a:spLocks/>
          </p:cNvSpPr>
          <p:nvPr/>
        </p:nvSpPr>
        <p:spPr>
          <a:xfrm>
            <a:off x="1225295" y="4297680"/>
            <a:ext cx="4599432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350" b="0" i="0" u="none">
                <a:solidFill>
                  <a:srgbClr val="6B6175"/>
                </a:solidFill>
                <a:latin typeface="Aptos"/>
              </a:rPr>
              <a:t>Choose a greeting you will recognise.</a:t>
            </a:r>
          </a:p>
        </p:txBody>
      </p:sp>
      <p:sp>
        <p:nvSpPr>
          <p:cNvPr id="15" name="TextBox 14"/>
          <p:cNvSpPr txBox="1">
            <a:spLocks/>
          </p:cNvSpPr>
          <p:nvPr/>
        </p:nvSpPr>
        <p:spPr>
          <a:xfrm>
            <a:off x="6144768" y="1773936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400" b="1" i="0" u="none">
                <a:solidFill>
                  <a:srgbClr val="FF6B6B"/>
                </a:solidFill>
                <a:latin typeface="Aptos"/>
              </a:rPr>
              <a:t>04</a:t>
            </a:r>
          </a:p>
        </p:txBody>
      </p:sp>
      <p:sp>
        <p:nvSpPr>
          <p:cNvPr id="16" name="TextBox 15"/>
          <p:cNvSpPr txBox="1">
            <a:spLocks/>
          </p:cNvSpPr>
          <p:nvPr/>
        </p:nvSpPr>
        <p:spPr>
          <a:xfrm>
            <a:off x="6711696" y="1773936"/>
            <a:ext cx="4599432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700" b="1" i="0" u="none">
                <a:solidFill>
                  <a:srgbClr val="11152B"/>
                </a:solidFill>
                <a:latin typeface="Aptos"/>
              </a:rPr>
              <a:t>Save the file</a:t>
            </a:r>
          </a:p>
        </p:txBody>
      </p:sp>
      <p:sp>
        <p:nvSpPr>
          <p:cNvPr id="17" name="TextBox 16"/>
          <p:cNvSpPr txBox="1">
            <a:spLocks/>
          </p:cNvSpPr>
          <p:nvPr/>
        </p:nvSpPr>
        <p:spPr>
          <a:xfrm>
            <a:off x="6711696" y="2103120"/>
            <a:ext cx="4599432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350" b="0" i="0" u="none">
                <a:solidFill>
                  <a:srgbClr val="6B6175"/>
                </a:solidFill>
                <a:latin typeface="Aptos"/>
              </a:rPr>
              <a:t>Watch the Dev Mode terminal.</a:t>
            </a:r>
          </a:p>
        </p:txBody>
      </p:sp>
      <p:sp>
        <p:nvSpPr>
          <p:cNvPr id="18" name="TextBox 17"/>
          <p:cNvSpPr txBox="1">
            <a:spLocks/>
          </p:cNvSpPr>
          <p:nvPr/>
        </p:nvSpPr>
        <p:spPr>
          <a:xfrm>
            <a:off x="6144768" y="2871215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400" b="1" i="0" u="none">
                <a:solidFill>
                  <a:srgbClr val="FF6B6B"/>
                </a:solidFill>
                <a:latin typeface="Aptos"/>
              </a:rPr>
              <a:t>05</a:t>
            </a:r>
          </a:p>
        </p:txBody>
      </p:sp>
      <p:sp>
        <p:nvSpPr>
          <p:cNvPr id="19" name="TextBox 18"/>
          <p:cNvSpPr txBox="1">
            <a:spLocks/>
          </p:cNvSpPr>
          <p:nvPr/>
        </p:nvSpPr>
        <p:spPr>
          <a:xfrm>
            <a:off x="6711696" y="2871215"/>
            <a:ext cx="4599432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700" b="1" i="0" u="none">
                <a:solidFill>
                  <a:srgbClr val="11152B"/>
                </a:solidFill>
                <a:latin typeface="Aptos"/>
              </a:rPr>
              <a:t>Refresh the browser</a:t>
            </a:r>
          </a:p>
        </p:txBody>
      </p:sp>
      <p:sp>
        <p:nvSpPr>
          <p:cNvPr id="20" name="TextBox 19"/>
          <p:cNvSpPr txBox="1">
            <a:spLocks/>
          </p:cNvSpPr>
          <p:nvPr/>
        </p:nvSpPr>
        <p:spPr>
          <a:xfrm>
            <a:off x="6711696" y="3200399"/>
            <a:ext cx="4599432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350" b="0" i="0" u="none">
                <a:solidFill>
                  <a:srgbClr val="6B6175"/>
                </a:solidFill>
                <a:latin typeface="Aptos"/>
              </a:rPr>
              <a:t>Open http://localhost:8080/hello.</a:t>
            </a:r>
          </a:p>
        </p:txBody>
      </p:sp>
      <p:sp>
        <p:nvSpPr>
          <p:cNvPr id="21" name="TextBox 20"/>
          <p:cNvSpPr txBox="1">
            <a:spLocks/>
          </p:cNvSpPr>
          <p:nvPr/>
        </p:nvSpPr>
        <p:spPr>
          <a:xfrm>
            <a:off x="6144768" y="3968496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400" b="1" i="0" u="none">
                <a:solidFill>
                  <a:srgbClr val="FF6B6B"/>
                </a:solidFill>
                <a:latin typeface="Aptos"/>
              </a:rPr>
              <a:t>06</a:t>
            </a:r>
          </a:p>
        </p:txBody>
      </p:sp>
      <p:sp>
        <p:nvSpPr>
          <p:cNvPr id="22" name="TextBox 21"/>
          <p:cNvSpPr txBox="1">
            <a:spLocks/>
          </p:cNvSpPr>
          <p:nvPr/>
        </p:nvSpPr>
        <p:spPr>
          <a:xfrm>
            <a:off x="6711696" y="3968496"/>
            <a:ext cx="4599432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700" b="1" i="0" u="none">
                <a:solidFill>
                  <a:srgbClr val="11152B"/>
                </a:solidFill>
                <a:latin typeface="Aptos"/>
              </a:rPr>
              <a:t>Confirm no restart</a:t>
            </a:r>
          </a:p>
        </p:txBody>
      </p:sp>
      <p:sp>
        <p:nvSpPr>
          <p:cNvPr id="23" name="TextBox 22"/>
          <p:cNvSpPr txBox="1">
            <a:spLocks/>
          </p:cNvSpPr>
          <p:nvPr/>
        </p:nvSpPr>
        <p:spPr>
          <a:xfrm>
            <a:off x="6711696" y="4297680"/>
            <a:ext cx="4599432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350" b="0" i="0" u="none">
                <a:solidFill>
                  <a:srgbClr val="6B6175"/>
                </a:solidFill>
                <a:latin typeface="Aptos"/>
              </a:rPr>
              <a:t>Dev Mode should still be the same running process.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5084064"/>
            <a:ext cx="310896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050" b="1" i="0" u="none">
                <a:solidFill>
                  <a:srgbClr val="E64072"/>
                </a:solidFill>
                <a:latin typeface="Aptos"/>
              </a:rPr>
              <a:t>EXPECTED RESULT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93392" y="5038344"/>
            <a:ext cx="918972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 i="0" u="none">
                <a:solidFill>
                  <a:srgbClr val="11152B"/>
                </a:solidFill>
                <a:latin typeface="Aptos"/>
              </a:rPr>
              <a:t>The browser displays your new greeting after a refresh.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5513832"/>
            <a:ext cx="10853928" cy="566928"/>
          </a:xfrm>
          <a:prstGeom prst="rect">
            <a:avLst/>
          </a:prstGeom>
          <a:solidFill>
            <a:srgbClr val="EE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96112" y="5605272"/>
            <a:ext cx="1865376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 u="none">
                <a:solidFill>
                  <a:srgbClr val="E64072"/>
                </a:solidFill>
                <a:latin typeface="Aptos"/>
              </a:rPr>
              <a:t>YOU ARE DONE WHEN…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61488" y="5586984"/>
            <a:ext cx="8458200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 i="0" u="none">
                <a:solidFill>
                  <a:srgbClr val="5632A8"/>
                </a:solidFill>
                <a:latin typeface="Aptos"/>
              </a:rPr>
              <a:t>The browser displays your new greeting without restarting the application.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640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/>
          <p:cNvSpPr txBox="1">
            <a:spLocks/>
          </p:cNvSpPr>
          <p:nvPr/>
        </p:nvSpPr>
        <p:spPr>
          <a:xfrm>
            <a:off x="566928" y="320040"/>
            <a:ext cx="585216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100" b="1" i="0" u="none">
                <a:solidFill>
                  <a:srgbClr val="E64072"/>
                </a:solidFill>
                <a:latin typeface="Aptos"/>
              </a:rPr>
              <a:t>REQUIRED ACTIVITY 6</a:t>
            </a:r>
          </a:p>
        </p:txBody>
      </p:sp>
      <p:sp>
        <p:nvSpPr>
          <p:cNvPr id="4" name="TextBox 3"/>
          <p:cNvSpPr txBox="1">
            <a:spLocks/>
          </p:cNvSpPr>
          <p:nvPr/>
        </p:nvSpPr>
        <p:spPr>
          <a:xfrm>
            <a:off x="566928" y="621792"/>
            <a:ext cx="11018520" cy="52120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3000" b="1" i="0" u="none">
                <a:solidFill>
                  <a:srgbClr val="11152B"/>
                </a:solidFill>
                <a:latin typeface="Aptos Display"/>
              </a:rPr>
              <a:t>Return JSON from /hello</a:t>
            </a:r>
          </a:p>
        </p:txBody>
      </p:sp>
      <p:sp>
        <p:nvSpPr>
          <p:cNvPr id="5" name="TextBox 4"/>
          <p:cNvSpPr txBox="1">
            <a:spLocks/>
          </p:cNvSpPr>
          <p:nvPr/>
        </p:nvSpPr>
        <p:spPr>
          <a:xfrm>
            <a:off x="566928" y="1197864"/>
            <a:ext cx="1097280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500" b="0" i="0" u="none">
                <a:solidFill>
                  <a:srgbClr val="6B6175"/>
                </a:solidFill>
                <a:latin typeface="Aptos"/>
              </a:rPr>
              <a:t>Replace the plain-text response with a small Java Map.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682496"/>
            <a:ext cx="310896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050" b="1" i="0" u="none">
                <a:solidFill>
                  <a:srgbClr val="E64072"/>
                </a:solidFill>
                <a:latin typeface="Aptos"/>
              </a:rPr>
              <a:t>GREETINGRESOURCE.JAVA</a:t>
            </a:r>
          </a:p>
        </p:txBody>
      </p:sp>
      <p:sp>
        <p:nvSpPr>
          <p:cNvPr id="7" name="Rectangle 6"/>
          <p:cNvSpPr>
            <a:spLocks/>
          </p:cNvSpPr>
          <p:nvPr/>
        </p:nvSpPr>
        <p:spPr>
          <a:xfrm>
            <a:off x="658368" y="1938528"/>
            <a:ext cx="6821424" cy="3895344"/>
          </a:xfrm>
          <a:prstGeom prst="rect">
            <a:avLst/>
          </a:prstGeom>
          <a:solidFill>
            <a:srgbClr val="111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/>
          <p:cNvSpPr txBox="1">
            <a:spLocks/>
          </p:cNvSpPr>
          <p:nvPr/>
        </p:nvSpPr>
        <p:spPr>
          <a:xfrm>
            <a:off x="877824" y="2103120"/>
            <a:ext cx="6382512" cy="367588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82000"/>
              </a:lnSpc>
              <a:spcAft>
                <a:spcPts val="0"/>
              </a:spcAft>
            </a:pPr>
            <a:r>
              <a:rPr lang="en-GB" sz="1400" b="0" i="0" u="none">
                <a:solidFill>
                  <a:srgbClr val="FFFFFF"/>
                </a:solidFill>
                <a:latin typeface="Aptos Mono"/>
              </a:rPr>
              <a:t>import java.util.Map;</a:t>
            </a:r>
          </a:p>
          <a:p>
            <a:pPr algn="l">
              <a:lnSpc>
                <a:spcPct val="82000"/>
              </a:lnSpc>
              <a:spcAft>
                <a:spcPts val="0"/>
              </a:spcAft>
            </a:pPr>
            <a:endParaRPr lang="en-GB" sz="1400" b="0" i="0" u="none">
              <a:solidFill>
                <a:srgbClr val="FFFFFF"/>
              </a:solidFill>
              <a:latin typeface="Aptos Mono"/>
            </a:endParaRPr>
          </a:p>
          <a:p>
            <a:pPr algn="l">
              <a:lnSpc>
                <a:spcPct val="82000"/>
              </a:lnSpc>
              <a:spcAft>
                <a:spcPts val="0"/>
              </a:spcAft>
            </a:pPr>
            <a:r>
              <a:rPr lang="en-GB" sz="1400" b="0" i="0" u="none">
                <a:solidFill>
                  <a:srgbClr val="FFFFFF"/>
                </a:solidFill>
                <a:latin typeface="Aptos Mono"/>
              </a:rPr>
              <a:t>@GET</a:t>
            </a:r>
          </a:p>
          <a:p>
            <a:pPr algn="l">
              <a:lnSpc>
                <a:spcPct val="82000"/>
              </a:lnSpc>
              <a:spcAft>
                <a:spcPts val="0"/>
              </a:spcAft>
            </a:pPr>
            <a:r>
              <a:rPr lang="en-GB" sz="1400" b="0" i="0" u="none">
                <a:solidFill>
                  <a:srgbClr val="FFFFFF"/>
                </a:solidFill>
                <a:latin typeface="Aptos Mono"/>
              </a:rPr>
              <a:t>@Produces(MediaType.APPLICATION_JSON)</a:t>
            </a:r>
          </a:p>
          <a:p>
            <a:pPr algn="l">
              <a:lnSpc>
                <a:spcPct val="82000"/>
              </a:lnSpc>
              <a:spcAft>
                <a:spcPts val="0"/>
              </a:spcAft>
            </a:pPr>
            <a:r>
              <a:rPr lang="en-GB" sz="1400" b="0" i="0" u="none">
                <a:solidFill>
                  <a:srgbClr val="FFFFFF"/>
                </a:solidFill>
                <a:latin typeface="Aptos Mono"/>
              </a:rPr>
              <a:t>public Map&lt;String, String&gt; hello() {</a:t>
            </a:r>
          </a:p>
          <a:p>
            <a:pPr algn="l">
              <a:lnSpc>
                <a:spcPct val="82000"/>
              </a:lnSpc>
              <a:spcAft>
                <a:spcPts val="0"/>
              </a:spcAft>
            </a:pPr>
            <a:r>
              <a:rPr lang="en-GB" sz="1400" b="0" i="0" u="none">
                <a:solidFill>
                  <a:srgbClr val="FFFFFF"/>
                </a:solidFill>
                <a:latin typeface="Aptos Mono"/>
              </a:rPr>
              <a:t>    return Map.of(</a:t>
            </a:r>
          </a:p>
          <a:p>
            <a:pPr algn="l">
              <a:lnSpc>
                <a:spcPct val="82000"/>
              </a:lnSpc>
              <a:spcAft>
                <a:spcPts val="0"/>
              </a:spcAft>
            </a:pPr>
            <a:r>
              <a:rPr lang="en-GB" sz="1400" b="0" i="0" u="none">
                <a:solidFill>
                  <a:srgbClr val="FFFFFF"/>
                </a:solidFill>
                <a:latin typeface="Aptos Mono"/>
              </a:rPr>
              <a:t>        "message",</a:t>
            </a:r>
          </a:p>
          <a:p>
            <a:pPr algn="l">
              <a:lnSpc>
                <a:spcPct val="82000"/>
              </a:lnSpc>
              <a:spcAft>
                <a:spcPts val="0"/>
              </a:spcAft>
            </a:pPr>
            <a:r>
              <a:rPr lang="en-GB" sz="1400" b="0" i="0" u="none">
                <a:solidFill>
                  <a:srgbClr val="FFFFFF"/>
                </a:solidFill>
                <a:latin typeface="Aptos Mono"/>
              </a:rPr>
              <a:t>        "Hello Quarkus Workshop"</a:t>
            </a:r>
          </a:p>
          <a:p>
            <a:pPr algn="l">
              <a:lnSpc>
                <a:spcPct val="82000"/>
              </a:lnSpc>
              <a:spcAft>
                <a:spcPts val="0"/>
              </a:spcAft>
            </a:pPr>
            <a:r>
              <a:rPr lang="en-GB" sz="1400" b="0" i="0" u="none">
                <a:solidFill>
                  <a:srgbClr val="FFFFFF"/>
                </a:solidFill>
                <a:latin typeface="Aptos Mono"/>
              </a:rPr>
              <a:t>    );</a:t>
            </a:r>
          </a:p>
          <a:p>
            <a:pPr algn="l">
              <a:lnSpc>
                <a:spcPct val="82000"/>
              </a:lnSpc>
              <a:spcAft>
                <a:spcPts val="0"/>
              </a:spcAft>
            </a:pPr>
            <a:r>
              <a:rPr lang="en-GB" sz="1400" b="0" i="0" u="none">
                <a:solidFill>
                  <a:srgbClr val="FFFFFF"/>
                </a:solidFill>
                <a:latin typeface="Aptos Mono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45552" y="1719072"/>
            <a:ext cx="310896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050" b="1" i="0" u="none">
                <a:solidFill>
                  <a:srgbClr val="E64072"/>
                </a:solidFill>
                <a:latin typeface="Aptos"/>
              </a:rPr>
              <a:t>STEPS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45552" y="2066543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400" b="1" i="0" u="none">
                <a:solidFill>
                  <a:srgbClr val="FF6B6B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>
            <a:spLocks/>
          </p:cNvSpPr>
          <p:nvPr/>
        </p:nvSpPr>
        <p:spPr>
          <a:xfrm>
            <a:off x="8412480" y="2066543"/>
            <a:ext cx="2889503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700" b="1" i="0" u="none">
                <a:solidFill>
                  <a:srgbClr val="11152B"/>
                </a:solidFill>
                <a:latin typeface="Aptos"/>
              </a:rPr>
              <a:t>Add the Map import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395727"/>
            <a:ext cx="2889503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350" b="0" i="0" u="none">
                <a:solidFill>
                  <a:srgbClr val="6B6175"/>
                </a:solidFill>
                <a:latin typeface="Aptos"/>
              </a:rPr>
              <a:t>Use java.util.Map.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45552" y="290779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400" b="1" i="0" u="none">
                <a:solidFill>
                  <a:srgbClr val="FF6B6B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907792"/>
            <a:ext cx="2889503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700" b="1" i="0" u="none">
                <a:solidFill>
                  <a:srgbClr val="11152B"/>
                </a:solidFill>
                <a:latin typeface="Aptos"/>
              </a:rPr>
              <a:t>Change the media type</a:t>
            </a:r>
          </a:p>
        </p:txBody>
      </p:sp>
      <p:sp>
        <p:nvSpPr>
          <p:cNvPr id="15" name="TextBox 14"/>
          <p:cNvSpPr txBox="1">
            <a:spLocks/>
          </p:cNvSpPr>
          <p:nvPr/>
        </p:nvSpPr>
        <p:spPr>
          <a:xfrm>
            <a:off x="8412480" y="3236976"/>
            <a:ext cx="2889503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350" b="0" i="0" u="none">
                <a:solidFill>
                  <a:srgbClr val="6B6175"/>
                </a:solidFill>
                <a:latin typeface="Aptos"/>
              </a:rPr>
              <a:t>Replace MediaType.TEXT_PLAIN with MediaType.APPLICATION_JSON.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45552" y="400507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400" b="1" i="0" u="none">
                <a:solidFill>
                  <a:srgbClr val="FF6B6B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>
            <a:spLocks/>
          </p:cNvSpPr>
          <p:nvPr/>
        </p:nvSpPr>
        <p:spPr>
          <a:xfrm>
            <a:off x="8412480" y="4005072"/>
            <a:ext cx="2889503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700" b="1" i="0" u="none">
                <a:solidFill>
                  <a:srgbClr val="11152B"/>
                </a:solidFill>
                <a:latin typeface="Aptos"/>
              </a:rPr>
              <a:t>Replace the method</a:t>
            </a:r>
          </a:p>
        </p:txBody>
      </p:sp>
      <p:sp>
        <p:nvSpPr>
          <p:cNvPr id="18" name="TextBox 17"/>
          <p:cNvSpPr txBox="1">
            <a:spLocks/>
          </p:cNvSpPr>
          <p:nvPr/>
        </p:nvSpPr>
        <p:spPr>
          <a:xfrm>
            <a:off x="8412480" y="4334256"/>
            <a:ext cx="2889503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350" b="0" i="0" u="none">
                <a:solidFill>
                  <a:srgbClr val="6B6175"/>
                </a:solidFill>
                <a:latin typeface="Aptos"/>
              </a:rPr>
              <a:t>Use the example, then save.</a:t>
            </a:r>
          </a:p>
        </p:txBody>
      </p:sp>
      <p:sp>
        <p:nvSpPr>
          <p:cNvPr id="19" name="Rectangle 18"/>
          <p:cNvSpPr>
            <a:spLocks/>
          </p:cNvSpPr>
          <p:nvPr/>
        </p:nvSpPr>
        <p:spPr>
          <a:xfrm>
            <a:off x="658368" y="5879592"/>
            <a:ext cx="10853928" cy="393192"/>
          </a:xfrm>
          <a:prstGeom prst="rect">
            <a:avLst/>
          </a:prstGeom>
          <a:solidFill>
            <a:srgbClr val="EE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TextBox 19"/>
          <p:cNvSpPr txBox="1">
            <a:spLocks/>
          </p:cNvSpPr>
          <p:nvPr/>
        </p:nvSpPr>
        <p:spPr>
          <a:xfrm>
            <a:off x="896112" y="5971032"/>
            <a:ext cx="1865376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050" b="1" i="0" u="none">
                <a:solidFill>
                  <a:srgbClr val="E64072"/>
                </a:solidFill>
                <a:latin typeface="Aptos"/>
              </a:rPr>
              <a:t>YOU ARE DONE WHEN…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61488" y="5925312"/>
            <a:ext cx="845820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 u="none">
                <a:solidFill>
                  <a:srgbClr val="5632A8"/>
                </a:solidFill>
                <a:latin typeface="Aptos"/>
              </a:rPr>
              <a:t>The code saves successfully and Dev Mode reports no compilation error.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640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585216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100" b="1" i="0" u="none">
                <a:solidFill>
                  <a:srgbClr val="E64072"/>
                </a:solidFill>
                <a:latin typeface="Aptos"/>
              </a:rPr>
              <a:t>REQUIRED ACTIVITY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18520" cy="52120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3000" b="1" i="0" u="none">
                <a:solidFill>
                  <a:srgbClr val="11152B"/>
                </a:solidFill>
                <a:latin typeface="Aptos Display"/>
              </a:rPr>
              <a:t>Check the JSON response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97864"/>
            <a:ext cx="1097280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500" b="0" i="0" u="none">
                <a:solidFill>
                  <a:srgbClr val="6B6175"/>
                </a:solidFill>
                <a:latin typeface="Aptos"/>
              </a:rPr>
              <a:t>Refresh the endpoint and compare the response with the target.</a:t>
            </a:r>
          </a:p>
        </p:txBody>
      </p:sp>
      <p:sp>
        <p:nvSpPr>
          <p:cNvPr id="6" name="TextBox 5"/>
          <p:cNvSpPr txBox="1">
            <a:spLocks/>
          </p:cNvSpPr>
          <p:nvPr/>
        </p:nvSpPr>
        <p:spPr>
          <a:xfrm>
            <a:off x="658368" y="1783080"/>
            <a:ext cx="310896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050" b="1" i="0" u="none">
                <a:solidFill>
                  <a:srgbClr val="E64072"/>
                </a:solidFill>
                <a:latin typeface="Aptos"/>
              </a:rPr>
              <a:t>OPEN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121408"/>
            <a:ext cx="534924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600" b="1" i="0" u="sng">
                <a:solidFill>
                  <a:srgbClr val="5632A8"/>
                </a:solidFill>
                <a:latin typeface="Aptos Mono"/>
              </a:rPr>
              <a:t>http://localhost:8080/hello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761488"/>
            <a:ext cx="310896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050" b="1" i="0" u="none">
                <a:solidFill>
                  <a:srgbClr val="E64072"/>
                </a:solidFill>
                <a:latin typeface="Aptos"/>
              </a:rPr>
              <a:t>STEPS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10896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400" b="1" i="0" u="none">
                <a:solidFill>
                  <a:srgbClr val="FF6B6B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>
            <a:spLocks/>
          </p:cNvSpPr>
          <p:nvPr/>
        </p:nvSpPr>
        <p:spPr>
          <a:xfrm>
            <a:off x="1225295" y="3108960"/>
            <a:ext cx="4782312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700" b="1" i="0" u="none">
                <a:solidFill>
                  <a:srgbClr val="11152B"/>
                </a:solidFill>
                <a:latin typeface="Aptos"/>
              </a:rPr>
              <a:t>Refresh the browser</a:t>
            </a:r>
          </a:p>
        </p:txBody>
      </p:sp>
      <p:sp>
        <p:nvSpPr>
          <p:cNvPr id="11" name="TextBox 10"/>
          <p:cNvSpPr txBox="1">
            <a:spLocks/>
          </p:cNvSpPr>
          <p:nvPr/>
        </p:nvSpPr>
        <p:spPr>
          <a:xfrm>
            <a:off x="1225295" y="3438144"/>
            <a:ext cx="4782312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350" b="0" i="0" u="none">
                <a:solidFill>
                  <a:srgbClr val="6B6175"/>
                </a:solidFill>
                <a:latin typeface="Aptos"/>
              </a:rPr>
              <a:t>If needed, open the endpoint in a new tab.</a:t>
            </a:r>
          </a:p>
        </p:txBody>
      </p:sp>
      <p:sp>
        <p:nvSpPr>
          <p:cNvPr id="12" name="TextBox 11"/>
          <p:cNvSpPr txBox="1">
            <a:spLocks/>
          </p:cNvSpPr>
          <p:nvPr/>
        </p:nvSpPr>
        <p:spPr>
          <a:xfrm>
            <a:off x="658368" y="3995928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400" b="1" i="0" u="none">
                <a:solidFill>
                  <a:srgbClr val="FF6B6B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25295" y="3995928"/>
            <a:ext cx="4782312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700" b="1" i="0" u="none">
                <a:solidFill>
                  <a:srgbClr val="11152B"/>
                </a:solidFill>
                <a:latin typeface="Aptos"/>
              </a:rPr>
              <a:t>Inspect the response</a:t>
            </a:r>
          </a:p>
        </p:txBody>
      </p:sp>
      <p:sp>
        <p:nvSpPr>
          <p:cNvPr id="14" name="TextBox 13"/>
          <p:cNvSpPr txBox="1">
            <a:spLocks/>
          </p:cNvSpPr>
          <p:nvPr/>
        </p:nvSpPr>
        <p:spPr>
          <a:xfrm>
            <a:off x="1225295" y="4325112"/>
            <a:ext cx="4782312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350" b="0" i="0" u="none">
                <a:solidFill>
                  <a:srgbClr val="6B6175"/>
                </a:solidFill>
                <a:latin typeface="Aptos"/>
              </a:rPr>
              <a:t>Look for a JSON object with a message field.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7648" y="1783080"/>
            <a:ext cx="310896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050" b="1" i="0" u="none">
                <a:solidFill>
                  <a:srgbClr val="E64072"/>
                </a:solidFill>
                <a:latin typeface="Aptos"/>
              </a:rPr>
              <a:t>EXPECTED RESULT</a:t>
            </a:r>
          </a:p>
        </p:txBody>
      </p:sp>
      <p:sp>
        <p:nvSpPr>
          <p:cNvPr id="16" name="Rectangle 15"/>
          <p:cNvSpPr>
            <a:spLocks/>
          </p:cNvSpPr>
          <p:nvPr/>
        </p:nvSpPr>
        <p:spPr>
          <a:xfrm>
            <a:off x="6327648" y="2039112"/>
            <a:ext cx="5010912" cy="3008376"/>
          </a:xfrm>
          <a:prstGeom prst="rect">
            <a:avLst/>
          </a:prstGeom>
          <a:solidFill>
            <a:srgbClr val="111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TextBox 16"/>
          <p:cNvSpPr txBox="1">
            <a:spLocks/>
          </p:cNvSpPr>
          <p:nvPr/>
        </p:nvSpPr>
        <p:spPr>
          <a:xfrm>
            <a:off x="6547104" y="2203704"/>
            <a:ext cx="4572000" cy="28072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88000"/>
              </a:lnSpc>
              <a:spcAft>
                <a:spcPts val="0"/>
              </a:spcAft>
            </a:pPr>
            <a:r>
              <a:rPr lang="en-GB" sz="1700" b="0" i="0" u="none">
                <a:solidFill>
                  <a:srgbClr val="FFFFFF"/>
                </a:solidFill>
                <a:latin typeface="Aptos Mono"/>
              </a:rPr>
              <a:t>{</a:t>
            </a:r>
          </a:p>
          <a:p>
            <a:pPr algn="l">
              <a:lnSpc>
                <a:spcPct val="88000"/>
              </a:lnSpc>
              <a:spcAft>
                <a:spcPts val="0"/>
              </a:spcAft>
            </a:pPr>
            <a:r>
              <a:rPr lang="en-GB" sz="1700" b="0" i="0" u="none">
                <a:solidFill>
                  <a:srgbClr val="FFFFFF"/>
                </a:solidFill>
                <a:latin typeface="Aptos Mono"/>
              </a:rPr>
              <a:t>  "message": "Hello Quarkus Workshop"</a:t>
            </a:r>
          </a:p>
          <a:p>
            <a:pPr algn="l">
              <a:lnSpc>
                <a:spcPct val="88000"/>
              </a:lnSpc>
              <a:spcAft>
                <a:spcPts val="0"/>
              </a:spcAft>
            </a:pPr>
            <a:r>
              <a:rPr lang="en-GB" sz="1700" b="0" i="0" u="none">
                <a:solidFill>
                  <a:srgbClr val="FFFFFF"/>
                </a:solidFill>
                <a:latin typeface="Aptos Mono"/>
              </a:rPr>
              <a:t>}</a:t>
            </a:r>
          </a:p>
        </p:txBody>
      </p:sp>
      <p:sp>
        <p:nvSpPr>
          <p:cNvPr id="18" name="TextBox 17"/>
          <p:cNvSpPr txBox="1">
            <a:spLocks/>
          </p:cNvSpPr>
          <p:nvPr/>
        </p:nvSpPr>
        <p:spPr>
          <a:xfrm>
            <a:off x="6327648" y="4590288"/>
            <a:ext cx="5010912" cy="4937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400" b="0" i="1" u="none">
                <a:solidFill>
                  <a:srgbClr val="6B6175"/>
                </a:solidFill>
                <a:latin typeface="Aptos"/>
              </a:rPr>
              <a:t>The response is structured data rather than plain text.</a:t>
            </a:r>
          </a:p>
        </p:txBody>
      </p:sp>
      <p:sp>
        <p:nvSpPr>
          <p:cNvPr id="19" name="Rectangle 18"/>
          <p:cNvSpPr>
            <a:spLocks/>
          </p:cNvSpPr>
          <p:nvPr/>
        </p:nvSpPr>
        <p:spPr>
          <a:xfrm>
            <a:off x="658368" y="5513832"/>
            <a:ext cx="10853928" cy="566928"/>
          </a:xfrm>
          <a:prstGeom prst="rect">
            <a:avLst/>
          </a:prstGeom>
          <a:solidFill>
            <a:srgbClr val="EE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TextBox 19"/>
          <p:cNvSpPr txBox="1">
            <a:spLocks/>
          </p:cNvSpPr>
          <p:nvPr/>
        </p:nvSpPr>
        <p:spPr>
          <a:xfrm>
            <a:off x="896112" y="5605272"/>
            <a:ext cx="1865376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050" b="1" i="0" u="none">
                <a:solidFill>
                  <a:srgbClr val="E64072"/>
                </a:solidFill>
                <a:latin typeface="Aptos"/>
              </a:rPr>
              <a:t>YOU ARE DONE WHEN…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61488" y="5586984"/>
            <a:ext cx="8458200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450" b="1" i="0" u="none">
                <a:solidFill>
                  <a:srgbClr val="5632A8"/>
                </a:solidFill>
                <a:latin typeface="Aptos"/>
              </a:rPr>
              <a:t>/hello returns JSON containing a message field.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640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585216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100" b="1" i="0" u="none">
                <a:solidFill>
                  <a:srgbClr val="E64072"/>
                </a:solidFill>
                <a:latin typeface="Aptos"/>
              </a:rPr>
              <a:t>REQUIRED ACTIVITY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18520" cy="52120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3000" b="1" i="0" u="none">
                <a:solidFill>
                  <a:srgbClr val="11152B"/>
                </a:solidFill>
                <a:latin typeface="Aptos Display"/>
              </a:rPr>
              <a:t>Add a name query parameter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97864"/>
            <a:ext cx="1097280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500" b="0" i="0" u="none">
                <a:solidFill>
                  <a:srgbClr val="6B6175"/>
                </a:solidFill>
                <a:latin typeface="Aptos"/>
              </a:rPr>
              <a:t>Use @QueryParam to make the greeting respond to an optional name.</a:t>
            </a:r>
          </a:p>
        </p:txBody>
      </p:sp>
      <p:sp>
        <p:nvSpPr>
          <p:cNvPr id="6" name="TextBox 5"/>
          <p:cNvSpPr txBox="1">
            <a:spLocks/>
          </p:cNvSpPr>
          <p:nvPr/>
        </p:nvSpPr>
        <p:spPr>
          <a:xfrm>
            <a:off x="658368" y="1645920"/>
            <a:ext cx="310896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050" b="1" i="0" u="none">
                <a:solidFill>
                  <a:srgbClr val="E64072"/>
                </a:solidFill>
                <a:latin typeface="Aptos"/>
              </a:rPr>
              <a:t>GREETINGRESOURCE.JAVA</a:t>
            </a:r>
          </a:p>
        </p:txBody>
      </p:sp>
      <p:sp>
        <p:nvSpPr>
          <p:cNvPr id="7" name="Rectangle 6"/>
          <p:cNvSpPr>
            <a:spLocks/>
          </p:cNvSpPr>
          <p:nvPr/>
        </p:nvSpPr>
        <p:spPr>
          <a:xfrm>
            <a:off x="658368" y="1901952"/>
            <a:ext cx="7479792" cy="3931920"/>
          </a:xfrm>
          <a:prstGeom prst="rect">
            <a:avLst/>
          </a:prstGeom>
          <a:solidFill>
            <a:srgbClr val="111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/>
          <p:cNvSpPr txBox="1"/>
          <p:nvPr/>
        </p:nvSpPr>
        <p:spPr>
          <a:xfrm>
            <a:off x="877824" y="2066544"/>
            <a:ext cx="7040879" cy="371246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82000"/>
              </a:lnSpc>
              <a:spcAft>
                <a:spcPts val="0"/>
              </a:spcAft>
            </a:pPr>
            <a:r>
              <a:rPr lang="en-GB" sz="1400" b="0" i="0" u="none">
                <a:solidFill>
                  <a:srgbClr val="FFFFFF"/>
                </a:solidFill>
                <a:latin typeface="Aptos Mono"/>
              </a:rPr>
              <a:t>import jakarta.ws.rs.QueryParam;</a:t>
            </a:r>
          </a:p>
          <a:p>
            <a:pPr algn="l">
              <a:lnSpc>
                <a:spcPct val="82000"/>
              </a:lnSpc>
              <a:spcAft>
                <a:spcPts val="0"/>
              </a:spcAft>
            </a:pPr>
            <a:endParaRPr lang="en-GB" sz="1400" b="0" i="0" u="none">
              <a:solidFill>
                <a:srgbClr val="FFFFFF"/>
              </a:solidFill>
              <a:latin typeface="Aptos Mono"/>
            </a:endParaRPr>
          </a:p>
          <a:p>
            <a:pPr algn="l">
              <a:lnSpc>
                <a:spcPct val="82000"/>
              </a:lnSpc>
              <a:spcAft>
                <a:spcPts val="0"/>
              </a:spcAft>
            </a:pPr>
            <a:r>
              <a:rPr lang="en-GB" sz="1400" b="0" i="0" u="none">
                <a:solidFill>
                  <a:srgbClr val="FFFFFF"/>
                </a:solidFill>
                <a:latin typeface="Aptos Mono"/>
              </a:rPr>
              <a:t>@GET</a:t>
            </a:r>
          </a:p>
          <a:p>
            <a:pPr algn="l">
              <a:lnSpc>
                <a:spcPct val="82000"/>
              </a:lnSpc>
              <a:spcAft>
                <a:spcPts val="0"/>
              </a:spcAft>
            </a:pPr>
            <a:r>
              <a:rPr lang="en-GB" sz="1400" b="0" i="0" u="none">
                <a:solidFill>
                  <a:srgbClr val="FFFFFF"/>
                </a:solidFill>
                <a:latin typeface="Aptos Mono"/>
              </a:rPr>
              <a:t>@Produces(MediaType.APPLICATION_JSON)</a:t>
            </a:r>
          </a:p>
          <a:p>
            <a:pPr algn="l">
              <a:lnSpc>
                <a:spcPct val="82000"/>
              </a:lnSpc>
              <a:spcAft>
                <a:spcPts val="0"/>
              </a:spcAft>
            </a:pPr>
            <a:r>
              <a:rPr lang="en-GB" sz="1400" b="0" i="0" u="none">
                <a:solidFill>
                  <a:srgbClr val="FFFFFF"/>
                </a:solidFill>
                <a:latin typeface="Aptos Mono"/>
              </a:rPr>
              <a:t>public Map&lt;String, String&gt; hello(</a:t>
            </a:r>
          </a:p>
          <a:p>
            <a:pPr algn="l">
              <a:lnSpc>
                <a:spcPct val="82000"/>
              </a:lnSpc>
              <a:spcAft>
                <a:spcPts val="0"/>
              </a:spcAft>
            </a:pPr>
            <a:r>
              <a:rPr lang="en-GB" sz="1400" b="0" i="0" u="none">
                <a:solidFill>
                  <a:srgbClr val="FFFFFF"/>
                </a:solidFill>
                <a:latin typeface="Aptos Mono"/>
              </a:rPr>
              <a:t>        @QueryParam("name") String name) {</a:t>
            </a:r>
          </a:p>
          <a:p>
            <a:pPr algn="l">
              <a:lnSpc>
                <a:spcPct val="82000"/>
              </a:lnSpc>
              <a:spcAft>
                <a:spcPts val="0"/>
              </a:spcAft>
            </a:pPr>
            <a:endParaRPr lang="en-GB" sz="1400" b="0" i="0" u="none">
              <a:solidFill>
                <a:srgbClr val="FFFFFF"/>
              </a:solidFill>
              <a:latin typeface="Aptos Mono"/>
            </a:endParaRPr>
          </a:p>
          <a:p>
            <a:pPr algn="l">
              <a:lnSpc>
                <a:spcPct val="82000"/>
              </a:lnSpc>
              <a:spcAft>
                <a:spcPts val="0"/>
              </a:spcAft>
            </a:pPr>
            <a:r>
              <a:rPr lang="en-GB" sz="1400" b="0" i="0" u="none">
                <a:solidFill>
                  <a:srgbClr val="FFFFFF"/>
                </a:solidFill>
                <a:latin typeface="Aptos Mono"/>
              </a:rPr>
              <a:t>    String greeting =</a:t>
            </a:r>
          </a:p>
          <a:p>
            <a:pPr algn="l">
              <a:lnSpc>
                <a:spcPct val="82000"/>
              </a:lnSpc>
              <a:spcAft>
                <a:spcPts val="0"/>
              </a:spcAft>
            </a:pPr>
            <a:r>
              <a:rPr lang="en-GB" sz="1400" b="0" i="0" u="none">
                <a:solidFill>
                  <a:srgbClr val="FFFFFF"/>
                </a:solidFill>
                <a:latin typeface="Aptos Mono"/>
              </a:rPr>
              <a:t>        name == null || name.isBlank()</a:t>
            </a:r>
          </a:p>
          <a:p>
            <a:pPr algn="l">
              <a:lnSpc>
                <a:spcPct val="82000"/>
              </a:lnSpc>
              <a:spcAft>
                <a:spcPts val="0"/>
              </a:spcAft>
            </a:pPr>
            <a:r>
              <a:rPr lang="en-GB" sz="1400" b="0" i="0" u="none">
                <a:solidFill>
                  <a:srgbClr val="FFFFFF"/>
                </a:solidFill>
                <a:latin typeface="Aptos Mono"/>
              </a:rPr>
              <a:t>            ? "Hello Quarkus Workshop"</a:t>
            </a:r>
          </a:p>
          <a:p>
            <a:pPr algn="l">
              <a:lnSpc>
                <a:spcPct val="82000"/>
              </a:lnSpc>
              <a:spcAft>
                <a:spcPts val="0"/>
              </a:spcAft>
            </a:pPr>
            <a:r>
              <a:rPr lang="en-GB" sz="1400" b="0" i="0" u="none">
                <a:solidFill>
                  <a:srgbClr val="FFFFFF"/>
                </a:solidFill>
                <a:latin typeface="Aptos Mono"/>
              </a:rPr>
              <a:t>            : "Hello " + name;</a:t>
            </a:r>
          </a:p>
          <a:p>
            <a:pPr algn="l">
              <a:lnSpc>
                <a:spcPct val="82000"/>
              </a:lnSpc>
              <a:spcAft>
                <a:spcPts val="0"/>
              </a:spcAft>
            </a:pPr>
            <a:endParaRPr lang="en-GB" sz="1400" b="0" i="0" u="none">
              <a:solidFill>
                <a:srgbClr val="FFFFFF"/>
              </a:solidFill>
              <a:latin typeface="Aptos Mono"/>
            </a:endParaRPr>
          </a:p>
          <a:p>
            <a:pPr algn="l">
              <a:lnSpc>
                <a:spcPct val="82000"/>
              </a:lnSpc>
              <a:spcAft>
                <a:spcPts val="0"/>
              </a:spcAft>
            </a:pPr>
            <a:r>
              <a:rPr lang="en-GB" sz="1400" b="0" i="0" u="none">
                <a:solidFill>
                  <a:srgbClr val="FFFFFF"/>
                </a:solidFill>
                <a:latin typeface="Aptos Mono"/>
              </a:rPr>
              <a:t>    return Map.of("message", greeting);</a:t>
            </a:r>
          </a:p>
          <a:p>
            <a:pPr algn="l">
              <a:lnSpc>
                <a:spcPct val="82000"/>
              </a:lnSpc>
              <a:spcAft>
                <a:spcPts val="0"/>
              </a:spcAft>
            </a:pPr>
            <a:r>
              <a:rPr lang="en-GB" sz="1400" b="0" i="0" u="none">
                <a:solidFill>
                  <a:srgbClr val="FFFFFF"/>
                </a:solidFill>
                <a:latin typeface="Aptos Mono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85632" y="1682496"/>
            <a:ext cx="310896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050" b="1" i="0" u="none">
                <a:solidFill>
                  <a:srgbClr val="E64072"/>
                </a:solidFill>
                <a:latin typeface="Aptos"/>
              </a:rPr>
              <a:t>STEPS</a:t>
            </a:r>
          </a:p>
        </p:txBody>
      </p:sp>
      <p:sp>
        <p:nvSpPr>
          <p:cNvPr id="10" name="TextBox 9"/>
          <p:cNvSpPr txBox="1">
            <a:spLocks/>
          </p:cNvSpPr>
          <p:nvPr/>
        </p:nvSpPr>
        <p:spPr>
          <a:xfrm>
            <a:off x="8485632" y="2048256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400" b="1" i="0" u="none">
                <a:solidFill>
                  <a:srgbClr val="FF6B6B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>
            <a:spLocks/>
          </p:cNvSpPr>
          <p:nvPr/>
        </p:nvSpPr>
        <p:spPr>
          <a:xfrm>
            <a:off x="9052559" y="2048256"/>
            <a:ext cx="2359152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700" b="1" i="0" u="none">
                <a:solidFill>
                  <a:srgbClr val="11152B"/>
                </a:solidFill>
                <a:latin typeface="Aptos"/>
              </a:rPr>
              <a:t>Add the import</a:t>
            </a:r>
          </a:p>
        </p:txBody>
      </p:sp>
      <p:sp>
        <p:nvSpPr>
          <p:cNvPr id="12" name="TextBox 11"/>
          <p:cNvSpPr txBox="1">
            <a:spLocks/>
          </p:cNvSpPr>
          <p:nvPr/>
        </p:nvSpPr>
        <p:spPr>
          <a:xfrm>
            <a:off x="9052559" y="2377440"/>
            <a:ext cx="2359152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350" b="0" i="0" u="none">
                <a:solidFill>
                  <a:srgbClr val="6B6175"/>
                </a:solidFill>
                <a:latin typeface="Aptos"/>
              </a:rPr>
              <a:t>Use jakarta.ws.rs.QueryParam.</a:t>
            </a:r>
          </a:p>
        </p:txBody>
      </p:sp>
      <p:sp>
        <p:nvSpPr>
          <p:cNvPr id="13" name="TextBox 12"/>
          <p:cNvSpPr txBox="1">
            <a:spLocks/>
          </p:cNvSpPr>
          <p:nvPr/>
        </p:nvSpPr>
        <p:spPr>
          <a:xfrm>
            <a:off x="8485632" y="3026664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400" b="1" i="0" u="none">
                <a:solidFill>
                  <a:srgbClr val="FF6B6B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>
            <a:spLocks/>
          </p:cNvSpPr>
          <p:nvPr/>
        </p:nvSpPr>
        <p:spPr>
          <a:xfrm>
            <a:off x="9052559" y="3026664"/>
            <a:ext cx="2359152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700" b="1" i="0" u="none">
                <a:solidFill>
                  <a:srgbClr val="11152B"/>
                </a:solidFill>
                <a:latin typeface="Aptos"/>
              </a:rPr>
              <a:t>Replace the method</a:t>
            </a:r>
          </a:p>
        </p:txBody>
      </p:sp>
      <p:sp>
        <p:nvSpPr>
          <p:cNvPr id="15" name="TextBox 14"/>
          <p:cNvSpPr txBox="1">
            <a:spLocks/>
          </p:cNvSpPr>
          <p:nvPr/>
        </p:nvSpPr>
        <p:spPr>
          <a:xfrm>
            <a:off x="9052559" y="3355848"/>
            <a:ext cx="2359152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350" b="0" i="0" u="none">
                <a:solidFill>
                  <a:srgbClr val="6B6175"/>
                </a:solidFill>
                <a:latin typeface="Aptos"/>
              </a:rPr>
              <a:t>Copy carefully, then save.</a:t>
            </a:r>
          </a:p>
        </p:txBody>
      </p:sp>
      <p:sp>
        <p:nvSpPr>
          <p:cNvPr id="16" name="TextBox 15"/>
          <p:cNvSpPr txBox="1">
            <a:spLocks/>
          </p:cNvSpPr>
          <p:nvPr/>
        </p:nvSpPr>
        <p:spPr>
          <a:xfrm>
            <a:off x="8485632" y="400507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400" b="1" i="0" u="none">
                <a:solidFill>
                  <a:srgbClr val="FF6B6B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59" y="4005072"/>
            <a:ext cx="2359152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700" b="1" i="0" u="none">
                <a:solidFill>
                  <a:srgbClr val="11152B"/>
                </a:solidFill>
                <a:latin typeface="Aptos"/>
              </a:rPr>
              <a:t>Check Dev Mode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59" y="4334256"/>
            <a:ext cx="2359152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350" b="0" i="0" u="none">
                <a:solidFill>
                  <a:srgbClr val="6B6175"/>
                </a:solidFill>
                <a:latin typeface="Aptos"/>
              </a:rPr>
              <a:t>Fix any compilation error before testing.</a:t>
            </a:r>
          </a:p>
        </p:txBody>
      </p:sp>
      <p:sp>
        <p:nvSpPr>
          <p:cNvPr id="19" name="Rectangle 18"/>
          <p:cNvSpPr>
            <a:spLocks/>
          </p:cNvSpPr>
          <p:nvPr/>
        </p:nvSpPr>
        <p:spPr>
          <a:xfrm>
            <a:off x="658368" y="5879592"/>
            <a:ext cx="10853928" cy="393192"/>
          </a:xfrm>
          <a:prstGeom prst="rect">
            <a:avLst/>
          </a:prstGeom>
          <a:solidFill>
            <a:srgbClr val="EE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TextBox 19"/>
          <p:cNvSpPr txBox="1">
            <a:spLocks/>
          </p:cNvSpPr>
          <p:nvPr/>
        </p:nvSpPr>
        <p:spPr>
          <a:xfrm>
            <a:off x="896112" y="5971032"/>
            <a:ext cx="1865376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050" b="1" i="0" u="none">
                <a:solidFill>
                  <a:srgbClr val="E64072"/>
                </a:solidFill>
                <a:latin typeface="Aptos"/>
              </a:rPr>
              <a:t>YOU ARE DONE WHEN…</a:t>
            </a:r>
          </a:p>
        </p:txBody>
      </p:sp>
      <p:sp>
        <p:nvSpPr>
          <p:cNvPr id="21" name="TextBox 20"/>
          <p:cNvSpPr txBox="1">
            <a:spLocks/>
          </p:cNvSpPr>
          <p:nvPr/>
        </p:nvSpPr>
        <p:spPr>
          <a:xfrm>
            <a:off x="2761488" y="5925312"/>
            <a:ext cx="845820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400" b="1" i="0" u="none">
                <a:solidFill>
                  <a:srgbClr val="5632A8"/>
                </a:solidFill>
                <a:latin typeface="Aptos"/>
              </a:rPr>
              <a:t>The application compiles with the new name parameter.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640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585216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100" b="1" i="0" u="none">
                <a:solidFill>
                  <a:srgbClr val="E64072"/>
                </a:solidFill>
                <a:latin typeface="Aptos"/>
              </a:rPr>
              <a:t>REQUIRED ACTIVITY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18520" cy="52120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3000" b="1" i="0" u="none">
                <a:solidFill>
                  <a:srgbClr val="11152B"/>
                </a:solidFill>
                <a:latin typeface="Aptos Display"/>
              </a:rPr>
              <a:t>Test both greeting behaviours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97864"/>
            <a:ext cx="1097280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500" b="0" i="0" u="none">
                <a:solidFill>
                  <a:srgbClr val="6B6175"/>
                </a:solidFill>
                <a:latin typeface="Aptos"/>
              </a:rPr>
              <a:t>Call the endpoint once without a name and once with a name.</a:t>
            </a:r>
          </a:p>
        </p:txBody>
      </p:sp>
      <p:sp>
        <p:nvSpPr>
          <p:cNvPr id="6" name="TextBox 5"/>
          <p:cNvSpPr txBox="1">
            <a:spLocks/>
          </p:cNvSpPr>
          <p:nvPr/>
        </p:nvSpPr>
        <p:spPr>
          <a:xfrm>
            <a:off x="658368" y="1755648"/>
            <a:ext cx="310896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050" b="1" i="0" u="none">
                <a:solidFill>
                  <a:srgbClr val="E64072"/>
                </a:solidFill>
                <a:latin typeface="Aptos"/>
              </a:rPr>
              <a:t>WITHOUT A NAME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075688"/>
            <a:ext cx="521208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450" b="1" i="0" u="sng">
                <a:solidFill>
                  <a:srgbClr val="5632A8"/>
                </a:solidFill>
                <a:latin typeface="Aptos Mono"/>
              </a:rPr>
              <a:t>http://localhost:8080/hello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587752"/>
            <a:ext cx="310896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050" b="1" i="0" u="none">
                <a:solidFill>
                  <a:srgbClr val="E64072"/>
                </a:solidFill>
                <a:latin typeface="Aptos"/>
              </a:rPr>
              <a:t>RETURNS</a:t>
            </a:r>
          </a:p>
        </p:txBody>
      </p:sp>
      <p:sp>
        <p:nvSpPr>
          <p:cNvPr id="9" name="Rectangle 8"/>
          <p:cNvSpPr>
            <a:spLocks/>
          </p:cNvSpPr>
          <p:nvPr/>
        </p:nvSpPr>
        <p:spPr>
          <a:xfrm>
            <a:off x="658368" y="2843784"/>
            <a:ext cx="5212080" cy="1755648"/>
          </a:xfrm>
          <a:prstGeom prst="rect">
            <a:avLst/>
          </a:prstGeom>
          <a:solidFill>
            <a:srgbClr val="111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/>
          <p:cNvSpPr txBox="1"/>
          <p:nvPr/>
        </p:nvSpPr>
        <p:spPr>
          <a:xfrm>
            <a:off x="877824" y="3008376"/>
            <a:ext cx="4773168" cy="1554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88000"/>
              </a:lnSpc>
              <a:spcAft>
                <a:spcPts val="0"/>
              </a:spcAft>
            </a:pPr>
            <a:r>
              <a:rPr lang="en-GB" sz="1500" b="0" i="0" u="none">
                <a:solidFill>
                  <a:srgbClr val="FFFFFF"/>
                </a:solidFill>
                <a:latin typeface="Aptos Mono"/>
              </a:rPr>
              <a:t>{</a:t>
            </a:r>
          </a:p>
          <a:p>
            <a:pPr algn="l">
              <a:lnSpc>
                <a:spcPct val="88000"/>
              </a:lnSpc>
              <a:spcAft>
                <a:spcPts val="0"/>
              </a:spcAft>
            </a:pPr>
            <a:r>
              <a:rPr lang="en-GB" sz="1500" b="0" i="0" u="none">
                <a:solidFill>
                  <a:srgbClr val="FFFFFF"/>
                </a:solidFill>
                <a:latin typeface="Aptos Mono"/>
              </a:rPr>
              <a:t>  "message": "Hello Quarkus Workshop"</a:t>
            </a:r>
          </a:p>
          <a:p>
            <a:pPr algn="l">
              <a:lnSpc>
                <a:spcPct val="88000"/>
              </a:lnSpc>
              <a:spcAft>
                <a:spcPts val="0"/>
              </a:spcAft>
            </a:pPr>
            <a:r>
              <a:rPr lang="en-GB" sz="1500" b="0" i="0" u="none">
                <a:solidFill>
                  <a:srgbClr val="FFFFFF"/>
                </a:solidFill>
                <a:latin typeface="Aptos Mono"/>
              </a:rPr>
              <a:t>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755648"/>
            <a:ext cx="310896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050" b="1" i="0" u="none">
                <a:solidFill>
                  <a:srgbClr val="E64072"/>
                </a:solidFill>
                <a:latin typeface="Aptos"/>
              </a:rPr>
              <a:t>WITH A NAME</a:t>
            </a:r>
          </a:p>
        </p:txBody>
      </p:sp>
      <p:sp>
        <p:nvSpPr>
          <p:cNvPr id="12" name="TextBox 11"/>
          <p:cNvSpPr txBox="1">
            <a:spLocks/>
          </p:cNvSpPr>
          <p:nvPr/>
        </p:nvSpPr>
        <p:spPr>
          <a:xfrm>
            <a:off x="6309360" y="2075688"/>
            <a:ext cx="521208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450" b="1" i="0" u="sng">
                <a:solidFill>
                  <a:srgbClr val="5632A8"/>
                </a:solidFill>
                <a:latin typeface="Aptos Mono"/>
              </a:rPr>
              <a:t>http://localhost:8080/hello?name=Anika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587752"/>
            <a:ext cx="310896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050" b="1" i="0" u="none">
                <a:solidFill>
                  <a:srgbClr val="E64072"/>
                </a:solidFill>
                <a:latin typeface="Aptos"/>
              </a:rPr>
              <a:t>RETURNS</a:t>
            </a:r>
          </a:p>
        </p:txBody>
      </p:sp>
      <p:sp>
        <p:nvSpPr>
          <p:cNvPr id="14" name="Rectangle 13"/>
          <p:cNvSpPr>
            <a:spLocks/>
          </p:cNvSpPr>
          <p:nvPr/>
        </p:nvSpPr>
        <p:spPr>
          <a:xfrm>
            <a:off x="6309360" y="2843784"/>
            <a:ext cx="5212080" cy="1755648"/>
          </a:xfrm>
          <a:prstGeom prst="rect">
            <a:avLst/>
          </a:prstGeom>
          <a:solidFill>
            <a:srgbClr val="111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/>
          <p:cNvSpPr txBox="1">
            <a:spLocks/>
          </p:cNvSpPr>
          <p:nvPr/>
        </p:nvSpPr>
        <p:spPr>
          <a:xfrm>
            <a:off x="6528816" y="3008376"/>
            <a:ext cx="4773168" cy="1554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88000"/>
              </a:lnSpc>
              <a:spcAft>
                <a:spcPts val="0"/>
              </a:spcAft>
            </a:pPr>
            <a:r>
              <a:rPr lang="en-GB" sz="1500" b="0" i="0" u="none">
                <a:solidFill>
                  <a:srgbClr val="FFFFFF"/>
                </a:solidFill>
                <a:latin typeface="Aptos Mono"/>
              </a:rPr>
              <a:t>{</a:t>
            </a:r>
          </a:p>
          <a:p>
            <a:pPr algn="l">
              <a:lnSpc>
                <a:spcPct val="88000"/>
              </a:lnSpc>
              <a:spcAft>
                <a:spcPts val="0"/>
              </a:spcAft>
            </a:pPr>
            <a:r>
              <a:rPr lang="en-GB" sz="1500" b="0" i="0" u="none">
                <a:solidFill>
                  <a:srgbClr val="FFFFFF"/>
                </a:solidFill>
                <a:latin typeface="Aptos Mono"/>
              </a:rPr>
              <a:t>  "message": "Hello Anika"</a:t>
            </a:r>
          </a:p>
          <a:p>
            <a:pPr algn="l">
              <a:lnSpc>
                <a:spcPct val="88000"/>
              </a:lnSpc>
              <a:spcAft>
                <a:spcPts val="0"/>
              </a:spcAft>
            </a:pPr>
            <a:r>
              <a:rPr lang="en-GB" sz="1500" b="0" i="0" u="none">
                <a:solidFill>
                  <a:srgbClr val="FFFFFF"/>
                </a:solidFill>
                <a:latin typeface="Aptos Mono"/>
              </a:rPr>
              <a:t>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4901184"/>
            <a:ext cx="310896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050" b="1" i="0" u="none">
                <a:solidFill>
                  <a:srgbClr val="E64072"/>
                </a:solidFill>
                <a:latin typeface="Aptos"/>
              </a:rPr>
              <a:t>EXPECTED RESULT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29968" y="4855464"/>
            <a:ext cx="9308592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450" b="1" i="0" u="none">
                <a:solidFill>
                  <a:srgbClr val="11152B"/>
                </a:solidFill>
                <a:latin typeface="Aptos"/>
              </a:rPr>
              <a:t>Changing the name in the URL changes the JSON message.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5513832"/>
            <a:ext cx="10853928" cy="566928"/>
          </a:xfrm>
          <a:prstGeom prst="rect">
            <a:avLst/>
          </a:prstGeom>
          <a:solidFill>
            <a:srgbClr val="EE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>
            <a:spLocks/>
          </p:cNvSpPr>
          <p:nvPr/>
        </p:nvSpPr>
        <p:spPr>
          <a:xfrm>
            <a:off x="896112" y="5605272"/>
            <a:ext cx="1865376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050" b="1" i="0" u="none">
                <a:solidFill>
                  <a:srgbClr val="E64072"/>
                </a:solidFill>
                <a:latin typeface="Aptos"/>
              </a:rPr>
              <a:t>YOU ARE DONE WHEN…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61488" y="5586984"/>
            <a:ext cx="8458200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450" b="1" i="0" u="none">
                <a:solidFill>
                  <a:srgbClr val="5632A8"/>
                </a:solidFill>
                <a:latin typeface="Aptos"/>
              </a:rPr>
              <a:t>Changing the name parameter changes the response.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640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585216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100" b="1" i="0" u="none">
                <a:solidFill>
                  <a:srgbClr val="E64072"/>
                </a:solidFill>
                <a:latin typeface="Aptos"/>
              </a:rPr>
              <a:t>REQUIRED ACTIVITY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18520" cy="52120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3000" b="1" i="0" u="none">
                <a:solidFill>
                  <a:srgbClr val="11152B"/>
                </a:solidFill>
                <a:latin typeface="Aptos Display"/>
              </a:rPr>
              <a:t>Create a separate AboutResource.java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97864"/>
            <a:ext cx="1097280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500" b="0" i="0" u="none">
                <a:solidFill>
                  <a:srgbClr val="6B6175"/>
                </a:solidFill>
                <a:latin typeface="Aptos"/>
              </a:rPr>
              <a:t>Add a second REST resource in the same package as GreetingResource.java.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609344"/>
            <a:ext cx="310896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050" b="1" i="0" u="none">
                <a:solidFill>
                  <a:srgbClr val="E64072"/>
                </a:solidFill>
                <a:latin typeface="Aptos"/>
              </a:rPr>
              <a:t>ABOUTRESOURCE.JAVA</a:t>
            </a:r>
          </a:p>
        </p:txBody>
      </p:sp>
      <p:sp>
        <p:nvSpPr>
          <p:cNvPr id="7" name="Rectangle 6"/>
          <p:cNvSpPr>
            <a:spLocks/>
          </p:cNvSpPr>
          <p:nvPr/>
        </p:nvSpPr>
        <p:spPr>
          <a:xfrm>
            <a:off x="658368" y="1865376"/>
            <a:ext cx="7406640" cy="3931920"/>
          </a:xfrm>
          <a:prstGeom prst="rect">
            <a:avLst/>
          </a:prstGeom>
          <a:solidFill>
            <a:srgbClr val="111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/>
          <p:cNvSpPr txBox="1"/>
          <p:nvPr/>
        </p:nvSpPr>
        <p:spPr>
          <a:xfrm>
            <a:off x="877824" y="2029968"/>
            <a:ext cx="6967727" cy="367588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82000"/>
              </a:lnSpc>
              <a:spcAft>
                <a:spcPts val="0"/>
              </a:spcAft>
            </a:pPr>
            <a:r>
              <a:rPr lang="en-GB" sz="1400" b="0" i="0" u="none">
                <a:solidFill>
                  <a:srgbClr val="FFFFFF"/>
                </a:solidFill>
                <a:latin typeface="Aptos Mono"/>
              </a:rPr>
              <a:t>package org.workshop;</a:t>
            </a:r>
          </a:p>
          <a:p>
            <a:pPr algn="l">
              <a:lnSpc>
                <a:spcPct val="82000"/>
              </a:lnSpc>
              <a:spcAft>
                <a:spcPts val="0"/>
              </a:spcAft>
            </a:pPr>
            <a:endParaRPr lang="en-GB" sz="1400" b="0" i="0" u="none">
              <a:solidFill>
                <a:srgbClr val="FFFFFF"/>
              </a:solidFill>
              <a:latin typeface="Aptos Mono"/>
            </a:endParaRPr>
          </a:p>
          <a:p>
            <a:pPr algn="l">
              <a:lnSpc>
                <a:spcPct val="82000"/>
              </a:lnSpc>
              <a:spcAft>
                <a:spcPts val="0"/>
              </a:spcAft>
            </a:pPr>
            <a:r>
              <a:rPr lang="en-GB" sz="1400" b="0" i="0" u="none">
                <a:solidFill>
                  <a:srgbClr val="FFFFFF"/>
                </a:solidFill>
                <a:latin typeface="Aptos Mono"/>
              </a:rPr>
              <a:t>import java.util.Map;</a:t>
            </a:r>
          </a:p>
          <a:p>
            <a:pPr algn="l">
              <a:lnSpc>
                <a:spcPct val="82000"/>
              </a:lnSpc>
              <a:spcAft>
                <a:spcPts val="0"/>
              </a:spcAft>
            </a:pPr>
            <a:r>
              <a:rPr lang="en-GB" sz="1400" b="0" i="0" u="none">
                <a:solidFill>
                  <a:srgbClr val="FFFFFF"/>
                </a:solidFill>
                <a:latin typeface="Aptos Mono"/>
              </a:rPr>
              <a:t>import jakarta.ws.rs.GET;</a:t>
            </a:r>
          </a:p>
          <a:p>
            <a:pPr algn="l">
              <a:lnSpc>
                <a:spcPct val="82000"/>
              </a:lnSpc>
              <a:spcAft>
                <a:spcPts val="0"/>
              </a:spcAft>
            </a:pPr>
            <a:r>
              <a:rPr lang="en-GB" sz="1400" b="0" i="0" u="none">
                <a:solidFill>
                  <a:srgbClr val="FFFFFF"/>
                </a:solidFill>
                <a:latin typeface="Aptos Mono"/>
              </a:rPr>
              <a:t>import jakarta.ws.rs.Path;</a:t>
            </a:r>
          </a:p>
          <a:p>
            <a:pPr algn="l">
              <a:lnSpc>
                <a:spcPct val="82000"/>
              </a:lnSpc>
              <a:spcAft>
                <a:spcPts val="0"/>
              </a:spcAft>
            </a:pPr>
            <a:r>
              <a:rPr lang="en-GB" sz="1400" b="0" i="0" u="none">
                <a:solidFill>
                  <a:srgbClr val="FFFFFF"/>
                </a:solidFill>
                <a:latin typeface="Aptos Mono"/>
              </a:rPr>
              <a:t>import jakarta.ws.rs.Produces;</a:t>
            </a:r>
          </a:p>
          <a:p>
            <a:pPr algn="l">
              <a:lnSpc>
                <a:spcPct val="82000"/>
              </a:lnSpc>
              <a:spcAft>
                <a:spcPts val="0"/>
              </a:spcAft>
            </a:pPr>
            <a:r>
              <a:rPr lang="en-GB" sz="1400" b="0" i="0" u="none">
                <a:solidFill>
                  <a:srgbClr val="FFFFFF"/>
                </a:solidFill>
                <a:latin typeface="Aptos Mono"/>
              </a:rPr>
              <a:t>import jakarta.ws.rs.core.MediaType;</a:t>
            </a:r>
          </a:p>
          <a:p>
            <a:pPr algn="l">
              <a:lnSpc>
                <a:spcPct val="82000"/>
              </a:lnSpc>
              <a:spcAft>
                <a:spcPts val="0"/>
              </a:spcAft>
            </a:pPr>
            <a:endParaRPr lang="en-GB" sz="1400" b="0" i="0" u="none">
              <a:solidFill>
                <a:srgbClr val="FFFFFF"/>
              </a:solidFill>
              <a:latin typeface="Aptos Mono"/>
            </a:endParaRPr>
          </a:p>
          <a:p>
            <a:pPr algn="l">
              <a:lnSpc>
                <a:spcPct val="82000"/>
              </a:lnSpc>
              <a:spcAft>
                <a:spcPts val="0"/>
              </a:spcAft>
            </a:pPr>
            <a:r>
              <a:rPr lang="en-GB" sz="1400" b="0" i="0" u="none">
                <a:solidFill>
                  <a:srgbClr val="FFFFFF"/>
                </a:solidFill>
                <a:latin typeface="Aptos Mono"/>
              </a:rPr>
              <a:t>@Path("/about")</a:t>
            </a:r>
          </a:p>
          <a:p>
            <a:pPr algn="l">
              <a:lnSpc>
                <a:spcPct val="82000"/>
              </a:lnSpc>
              <a:spcAft>
                <a:spcPts val="0"/>
              </a:spcAft>
            </a:pPr>
            <a:r>
              <a:rPr lang="en-GB" sz="1400" b="0" i="0" u="none">
                <a:solidFill>
                  <a:srgbClr val="FFFFFF"/>
                </a:solidFill>
                <a:latin typeface="Aptos Mono"/>
              </a:rPr>
              <a:t>public class AboutResource {</a:t>
            </a:r>
          </a:p>
          <a:p>
            <a:pPr algn="l">
              <a:lnSpc>
                <a:spcPct val="82000"/>
              </a:lnSpc>
              <a:spcAft>
                <a:spcPts val="0"/>
              </a:spcAft>
            </a:pPr>
            <a:endParaRPr lang="en-GB" sz="1400" b="0" i="0" u="none">
              <a:solidFill>
                <a:srgbClr val="FFFFFF"/>
              </a:solidFill>
              <a:latin typeface="Aptos Mono"/>
            </a:endParaRPr>
          </a:p>
          <a:p>
            <a:pPr algn="l">
              <a:lnSpc>
                <a:spcPct val="82000"/>
              </a:lnSpc>
              <a:spcAft>
                <a:spcPts val="0"/>
              </a:spcAft>
            </a:pPr>
            <a:r>
              <a:rPr lang="en-GB" sz="1400" b="0" i="0" u="none">
                <a:solidFill>
                  <a:srgbClr val="FFFFFF"/>
                </a:solidFill>
                <a:latin typeface="Aptos Mono"/>
              </a:rPr>
              <a:t>    @GET</a:t>
            </a:r>
          </a:p>
          <a:p>
            <a:pPr algn="l">
              <a:lnSpc>
                <a:spcPct val="82000"/>
              </a:lnSpc>
              <a:spcAft>
                <a:spcPts val="0"/>
              </a:spcAft>
            </a:pPr>
            <a:r>
              <a:rPr lang="en-GB" sz="1400" b="0" i="0" u="none">
                <a:solidFill>
                  <a:srgbClr val="FFFFFF"/>
                </a:solidFill>
                <a:latin typeface="Aptos Mono"/>
              </a:rPr>
              <a:t>    @Produces(MediaType.APPLICATION_JSON)</a:t>
            </a:r>
          </a:p>
          <a:p>
            <a:pPr algn="l">
              <a:lnSpc>
                <a:spcPct val="82000"/>
              </a:lnSpc>
              <a:spcAft>
                <a:spcPts val="0"/>
              </a:spcAft>
            </a:pPr>
            <a:r>
              <a:rPr lang="en-GB" sz="1400" b="0" i="0" u="none">
                <a:solidFill>
                  <a:srgbClr val="FFFFFF"/>
                </a:solidFill>
                <a:latin typeface="Aptos Mono"/>
              </a:rPr>
              <a:t>    public Map&lt;String, Object&gt; about() {</a:t>
            </a:r>
          </a:p>
          <a:p>
            <a:pPr algn="l">
              <a:lnSpc>
                <a:spcPct val="82000"/>
              </a:lnSpc>
              <a:spcAft>
                <a:spcPts val="0"/>
              </a:spcAft>
            </a:pPr>
            <a:r>
              <a:rPr lang="en-GB" sz="1400" b="0" i="0" u="none">
                <a:solidFill>
                  <a:srgbClr val="FFFFFF"/>
                </a:solidFill>
                <a:latin typeface="Aptos Mono"/>
              </a:rPr>
              <a:t>        return Map.of(</a:t>
            </a:r>
          </a:p>
          <a:p>
            <a:pPr algn="l">
              <a:lnSpc>
                <a:spcPct val="82000"/>
              </a:lnSpc>
              <a:spcAft>
                <a:spcPts val="0"/>
              </a:spcAft>
            </a:pPr>
            <a:r>
              <a:rPr lang="en-GB" sz="1400" b="0" i="0" u="none">
                <a:solidFill>
                  <a:srgbClr val="FFFFFF"/>
                </a:solidFill>
                <a:latin typeface="Aptos Mono"/>
              </a:rPr>
              <a:t>            "framework", "Quarkus",</a:t>
            </a:r>
          </a:p>
          <a:p>
            <a:pPr algn="l">
              <a:lnSpc>
                <a:spcPct val="82000"/>
              </a:lnSpc>
              <a:spcAft>
                <a:spcPts val="0"/>
              </a:spcAft>
            </a:pPr>
            <a:r>
              <a:rPr lang="en-GB" sz="1400" b="0" i="0" u="none">
                <a:solidFill>
                  <a:srgbClr val="FFFFFF"/>
                </a:solidFill>
                <a:latin typeface="Aptos Mono"/>
              </a:rPr>
              <a:t>            "workshop", true</a:t>
            </a:r>
          </a:p>
          <a:p>
            <a:pPr algn="l">
              <a:lnSpc>
                <a:spcPct val="82000"/>
              </a:lnSpc>
              <a:spcAft>
                <a:spcPts val="0"/>
              </a:spcAft>
            </a:pPr>
            <a:r>
              <a:rPr lang="en-GB" sz="1400" b="0" i="0" u="none">
                <a:solidFill>
                  <a:srgbClr val="FFFFFF"/>
                </a:solidFill>
                <a:latin typeface="Aptos Mono"/>
              </a:rPr>
              <a:t>        );</a:t>
            </a:r>
          </a:p>
          <a:p>
            <a:pPr algn="l">
              <a:lnSpc>
                <a:spcPct val="82000"/>
              </a:lnSpc>
              <a:spcAft>
                <a:spcPts val="0"/>
              </a:spcAft>
            </a:pPr>
            <a:r>
              <a:rPr lang="en-GB" sz="1400" b="0" i="0" u="none">
                <a:solidFill>
                  <a:srgbClr val="FFFFFF"/>
                </a:solidFill>
                <a:latin typeface="Aptos Mono"/>
              </a:rPr>
              <a:t>    }</a:t>
            </a:r>
          </a:p>
          <a:p>
            <a:pPr algn="l">
              <a:lnSpc>
                <a:spcPct val="82000"/>
              </a:lnSpc>
              <a:spcAft>
                <a:spcPts val="0"/>
              </a:spcAft>
            </a:pPr>
            <a:r>
              <a:rPr lang="en-GB" sz="1400" b="0" i="0" u="none">
                <a:solidFill>
                  <a:srgbClr val="FFFFFF"/>
                </a:solidFill>
                <a:latin typeface="Aptos Mono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94192" y="1664208"/>
            <a:ext cx="310896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050" b="1" i="0" u="none">
                <a:solidFill>
                  <a:srgbClr val="E64072"/>
                </a:solidFill>
                <a:latin typeface="Aptos"/>
              </a:rPr>
              <a:t>STEPS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94192" y="2029968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400" b="1" i="0" u="none">
                <a:solidFill>
                  <a:srgbClr val="FF6B6B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19" y="2029968"/>
            <a:ext cx="2359152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700" b="1" i="0" u="none">
                <a:solidFill>
                  <a:srgbClr val="11152B"/>
                </a:solidFill>
                <a:latin typeface="Aptos"/>
              </a:rPr>
              <a:t>Create the file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19" y="2359152"/>
            <a:ext cx="2359152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350" b="0" i="0" u="none">
                <a:solidFill>
                  <a:srgbClr val="6B6175"/>
                </a:solidFill>
                <a:latin typeface="Aptos"/>
              </a:rPr>
              <a:t>Name it AboutResource.java.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94192" y="2962656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400" b="1" i="0" u="none">
                <a:solidFill>
                  <a:srgbClr val="FF6B6B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19" y="2962656"/>
            <a:ext cx="2359152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700" b="1" i="0" u="none">
                <a:solidFill>
                  <a:srgbClr val="11152B"/>
                </a:solidFill>
                <a:latin typeface="Aptos"/>
              </a:rPr>
              <a:t>Use the same package</a:t>
            </a:r>
          </a:p>
        </p:txBody>
      </p:sp>
      <p:sp>
        <p:nvSpPr>
          <p:cNvPr id="15" name="TextBox 14"/>
          <p:cNvSpPr txBox="1">
            <a:spLocks/>
          </p:cNvSpPr>
          <p:nvPr/>
        </p:nvSpPr>
        <p:spPr>
          <a:xfrm>
            <a:off x="8961119" y="3291840"/>
            <a:ext cx="2359152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350" b="0" i="0" u="none">
                <a:solidFill>
                  <a:srgbClr val="6B6175"/>
                </a:solidFill>
                <a:latin typeface="Aptos"/>
              </a:rPr>
              <a:t>Keep package org.workshop unless your Group differs.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94192" y="411480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400" b="1" i="0" u="none">
                <a:solidFill>
                  <a:srgbClr val="FF6B6B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>
            <a:spLocks/>
          </p:cNvSpPr>
          <p:nvPr/>
        </p:nvSpPr>
        <p:spPr>
          <a:xfrm>
            <a:off x="8961119" y="4114800"/>
            <a:ext cx="2359152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700" b="1" i="0" u="none">
                <a:solidFill>
                  <a:srgbClr val="11152B"/>
                </a:solidFill>
                <a:latin typeface="Aptos"/>
              </a:rPr>
              <a:t>Paste, save and check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19" y="4443984"/>
            <a:ext cx="2359152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350" b="0" i="0" u="none">
                <a:solidFill>
                  <a:srgbClr val="6B6175"/>
                </a:solidFill>
                <a:latin typeface="Aptos"/>
              </a:rPr>
              <a:t>Dev Mode should compile the new class.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5879592"/>
            <a:ext cx="10853928" cy="393192"/>
          </a:xfrm>
          <a:prstGeom prst="rect">
            <a:avLst/>
          </a:prstGeom>
          <a:solidFill>
            <a:srgbClr val="EE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96112" y="5971032"/>
            <a:ext cx="1865376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050" b="1" i="0" u="none">
                <a:solidFill>
                  <a:srgbClr val="E64072"/>
                </a:solidFill>
                <a:latin typeface="Aptos"/>
              </a:rPr>
              <a:t>YOU ARE DONE WHEN…</a:t>
            </a:r>
          </a:p>
        </p:txBody>
      </p:sp>
      <p:sp>
        <p:nvSpPr>
          <p:cNvPr id="21" name="TextBox 20"/>
          <p:cNvSpPr txBox="1">
            <a:spLocks/>
          </p:cNvSpPr>
          <p:nvPr/>
        </p:nvSpPr>
        <p:spPr>
          <a:xfrm>
            <a:off x="2761488" y="5925312"/>
            <a:ext cx="845820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400" b="1" i="0" u="none">
                <a:solidFill>
                  <a:srgbClr val="5632A8"/>
                </a:solidFill>
                <a:latin typeface="Aptos"/>
              </a:rPr>
              <a:t>Dev Mode compiles AboutResource.java without an error.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640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585216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100" b="1" i="0" u="none">
                <a:solidFill>
                  <a:srgbClr val="E64072"/>
                </a:solidFill>
                <a:latin typeface="Aptos"/>
              </a:rPr>
              <a:t>REQUIRED ACTIVITY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18520" cy="52120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3000" b="1" i="0" u="none">
                <a:solidFill>
                  <a:srgbClr val="11152B"/>
                </a:solidFill>
                <a:latin typeface="Aptos Display"/>
              </a:rPr>
              <a:t>Test the /about endpoint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97864"/>
            <a:ext cx="1097280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500" b="0" i="0" u="none">
                <a:solidFill>
                  <a:srgbClr val="6B6175"/>
                </a:solidFill>
                <a:latin typeface="Aptos"/>
              </a:rPr>
              <a:t>Open the new URL and confirm that it returns application information.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310896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050" b="1" i="0" u="none">
                <a:solidFill>
                  <a:srgbClr val="E64072"/>
                </a:solidFill>
                <a:latin typeface="Aptos"/>
              </a:rPr>
              <a:t>OPEN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139696"/>
            <a:ext cx="530352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600" b="1" i="0" u="sng">
                <a:solidFill>
                  <a:srgbClr val="5632A8"/>
                </a:solidFill>
                <a:latin typeface="Aptos Mono"/>
              </a:rPr>
              <a:t>http://localhost:8080/about</a:t>
            </a:r>
          </a:p>
        </p:txBody>
      </p:sp>
      <p:sp>
        <p:nvSpPr>
          <p:cNvPr id="8" name="TextBox 7"/>
          <p:cNvSpPr txBox="1">
            <a:spLocks/>
          </p:cNvSpPr>
          <p:nvPr/>
        </p:nvSpPr>
        <p:spPr>
          <a:xfrm>
            <a:off x="658368" y="2807208"/>
            <a:ext cx="310896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050" b="1" i="0" u="none">
                <a:solidFill>
                  <a:srgbClr val="E64072"/>
                </a:solidFill>
                <a:latin typeface="Aptos"/>
              </a:rPr>
              <a:t>STEPS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15468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400" b="1" i="0" u="none">
                <a:solidFill>
                  <a:srgbClr val="FF6B6B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25295" y="3154680"/>
            <a:ext cx="4736592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700" b="1" i="0" u="none">
                <a:solidFill>
                  <a:srgbClr val="11152B"/>
                </a:solidFill>
                <a:latin typeface="Aptos"/>
              </a:rPr>
              <a:t>Refresh after saving</a:t>
            </a:r>
          </a:p>
        </p:txBody>
      </p:sp>
      <p:sp>
        <p:nvSpPr>
          <p:cNvPr id="11" name="TextBox 10"/>
          <p:cNvSpPr txBox="1">
            <a:spLocks/>
          </p:cNvSpPr>
          <p:nvPr/>
        </p:nvSpPr>
        <p:spPr>
          <a:xfrm>
            <a:off x="1225295" y="3483864"/>
            <a:ext cx="4736592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350" b="0" i="0" u="none">
                <a:solidFill>
                  <a:srgbClr val="6B6175"/>
                </a:solidFill>
                <a:latin typeface="Aptos"/>
              </a:rPr>
              <a:t>Dev Mode should discover the new resource.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4041648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400" b="1" i="0" u="none">
                <a:solidFill>
                  <a:srgbClr val="FF6B6B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25295" y="4041648"/>
            <a:ext cx="4736592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700" b="1" i="0" u="none">
                <a:solidFill>
                  <a:srgbClr val="11152B"/>
                </a:solidFill>
                <a:latin typeface="Aptos"/>
              </a:rPr>
              <a:t>Check both fields</a:t>
            </a:r>
          </a:p>
        </p:txBody>
      </p:sp>
      <p:sp>
        <p:nvSpPr>
          <p:cNvPr id="14" name="TextBox 13"/>
          <p:cNvSpPr txBox="1">
            <a:spLocks/>
          </p:cNvSpPr>
          <p:nvPr/>
        </p:nvSpPr>
        <p:spPr>
          <a:xfrm>
            <a:off x="1225295" y="4370832"/>
            <a:ext cx="4736592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350" b="0" i="0" u="none">
                <a:solidFill>
                  <a:srgbClr val="6B6175"/>
                </a:solidFill>
                <a:latin typeface="Aptos"/>
              </a:rPr>
              <a:t>framework should be Quarkus; workshop should be true.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7648" y="1783080"/>
            <a:ext cx="310896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050" b="1" i="0" u="none">
                <a:solidFill>
                  <a:srgbClr val="E64072"/>
                </a:solidFill>
                <a:latin typeface="Aptos"/>
              </a:rPr>
              <a:t>EXPECTED RESULT</a:t>
            </a:r>
          </a:p>
        </p:txBody>
      </p:sp>
      <p:sp>
        <p:nvSpPr>
          <p:cNvPr id="16" name="Rectangle 15"/>
          <p:cNvSpPr>
            <a:spLocks/>
          </p:cNvSpPr>
          <p:nvPr/>
        </p:nvSpPr>
        <p:spPr>
          <a:xfrm>
            <a:off x="6327648" y="2039112"/>
            <a:ext cx="5010912" cy="3054096"/>
          </a:xfrm>
          <a:prstGeom prst="rect">
            <a:avLst/>
          </a:prstGeom>
          <a:solidFill>
            <a:srgbClr val="111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TextBox 16"/>
          <p:cNvSpPr txBox="1">
            <a:spLocks/>
          </p:cNvSpPr>
          <p:nvPr/>
        </p:nvSpPr>
        <p:spPr>
          <a:xfrm>
            <a:off x="6547104" y="2203704"/>
            <a:ext cx="4572000" cy="2852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88000"/>
              </a:lnSpc>
              <a:spcAft>
                <a:spcPts val="0"/>
              </a:spcAft>
            </a:pPr>
            <a:r>
              <a:rPr lang="en-GB" sz="1600" b="0" i="0" u="none">
                <a:solidFill>
                  <a:srgbClr val="FFFFFF"/>
                </a:solidFill>
                <a:latin typeface="Aptos Mono"/>
              </a:rPr>
              <a:t>{</a:t>
            </a:r>
          </a:p>
          <a:p>
            <a:pPr algn="l">
              <a:lnSpc>
                <a:spcPct val="88000"/>
              </a:lnSpc>
              <a:spcAft>
                <a:spcPts val="0"/>
              </a:spcAft>
            </a:pPr>
            <a:r>
              <a:rPr lang="en-GB" sz="1600" b="0" i="0" u="none">
                <a:solidFill>
                  <a:srgbClr val="FFFFFF"/>
                </a:solidFill>
                <a:latin typeface="Aptos Mono"/>
              </a:rPr>
              <a:t>  "framework": "Quarkus",</a:t>
            </a:r>
          </a:p>
          <a:p>
            <a:pPr algn="l">
              <a:lnSpc>
                <a:spcPct val="88000"/>
              </a:lnSpc>
              <a:spcAft>
                <a:spcPts val="0"/>
              </a:spcAft>
            </a:pPr>
            <a:r>
              <a:rPr lang="en-GB" sz="1600" b="0" i="0" u="none">
                <a:solidFill>
                  <a:srgbClr val="FFFFFF"/>
                </a:solidFill>
                <a:latin typeface="Aptos Mono"/>
              </a:rPr>
              <a:t>  "workshop": true</a:t>
            </a:r>
          </a:p>
          <a:p>
            <a:pPr algn="l">
              <a:lnSpc>
                <a:spcPct val="88000"/>
              </a:lnSpc>
              <a:spcAft>
                <a:spcPts val="0"/>
              </a:spcAft>
            </a:pPr>
            <a:r>
              <a:rPr lang="en-GB" sz="1600" b="0" i="0" u="none">
                <a:solidFill>
                  <a:srgbClr val="FFFFFF"/>
                </a:solidFill>
                <a:latin typeface="Aptos Mono"/>
              </a:rPr>
              <a:t>}</a:t>
            </a:r>
          </a:p>
        </p:txBody>
      </p:sp>
      <p:sp>
        <p:nvSpPr>
          <p:cNvPr id="18" name="Rectangle 17"/>
          <p:cNvSpPr>
            <a:spLocks/>
          </p:cNvSpPr>
          <p:nvPr/>
        </p:nvSpPr>
        <p:spPr>
          <a:xfrm>
            <a:off x="658368" y="5513832"/>
            <a:ext cx="10853928" cy="566928"/>
          </a:xfrm>
          <a:prstGeom prst="rect">
            <a:avLst/>
          </a:prstGeom>
          <a:solidFill>
            <a:srgbClr val="EE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TextBox 18"/>
          <p:cNvSpPr txBox="1"/>
          <p:nvPr/>
        </p:nvSpPr>
        <p:spPr>
          <a:xfrm>
            <a:off x="896112" y="5605272"/>
            <a:ext cx="1865376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050" b="1" i="0" u="none">
                <a:solidFill>
                  <a:srgbClr val="E64072"/>
                </a:solidFill>
                <a:latin typeface="Aptos"/>
              </a:rPr>
              <a:t>YOU ARE DONE WHEN…</a:t>
            </a:r>
          </a:p>
        </p:txBody>
      </p:sp>
      <p:sp>
        <p:nvSpPr>
          <p:cNvPr id="20" name="TextBox 19"/>
          <p:cNvSpPr txBox="1">
            <a:spLocks/>
          </p:cNvSpPr>
          <p:nvPr/>
        </p:nvSpPr>
        <p:spPr>
          <a:xfrm>
            <a:off x="2761488" y="5586984"/>
            <a:ext cx="8458200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450" b="1" i="0" u="none">
                <a:solidFill>
                  <a:srgbClr val="5632A8"/>
                </a:solidFill>
                <a:latin typeface="Aptos"/>
              </a:rPr>
              <a:t>/about returns information about the application as JSON.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640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585216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100" b="1" i="0" u="none">
                <a:solidFill>
                  <a:srgbClr val="E64072"/>
                </a:solidFill>
                <a:latin typeface="Aptos"/>
              </a:rPr>
              <a:t>REQUIRED ACTIVITY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18520" cy="52120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3000" b="1" i="0" u="none">
                <a:solidFill>
                  <a:srgbClr val="11152B"/>
                </a:solidFill>
                <a:latin typeface="Aptos Display"/>
              </a:rPr>
              <a:t>Explore Quarkus development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97864"/>
            <a:ext cx="1097280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500" b="0" i="0" u="none">
                <a:solidFill>
                  <a:srgbClr val="6B6175"/>
                </a:solidFill>
                <a:latin typeface="Aptos"/>
              </a:rPr>
              <a:t>Open each URL and compare what it tells you about the running service.</a:t>
            </a:r>
          </a:p>
        </p:txBody>
      </p:sp>
      <p:sp>
        <p:nvSpPr>
          <p:cNvPr id="6" name="Rectangle 5"/>
          <p:cNvSpPr>
            <a:spLocks/>
          </p:cNvSpPr>
          <p:nvPr/>
        </p:nvSpPr>
        <p:spPr>
          <a:xfrm>
            <a:off x="658368" y="1810512"/>
            <a:ext cx="64008" cy="3236976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/>
          <p:cNvSpPr txBox="1">
            <a:spLocks/>
          </p:cNvSpPr>
          <p:nvPr/>
        </p:nvSpPr>
        <p:spPr>
          <a:xfrm>
            <a:off x="886968" y="1837943"/>
            <a:ext cx="3236976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200" b="1" i="0" u="none">
                <a:solidFill>
                  <a:srgbClr val="FF6B6B"/>
                </a:solidFill>
                <a:latin typeface="Aptos"/>
              </a:rPr>
              <a:t>DEV UI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249424"/>
            <a:ext cx="324612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250" b="1" i="0" u="sng">
                <a:solidFill>
                  <a:srgbClr val="5632A8"/>
                </a:solidFill>
                <a:latin typeface="Aptos Mono"/>
              </a:rPr>
              <a:t>http://localhost:8080/q/dev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886968" y="2862072"/>
            <a:ext cx="324612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600" b="1" i="0" u="none">
                <a:solidFill>
                  <a:srgbClr val="11152B"/>
                </a:solidFill>
                <a:latin typeface="Aptos"/>
              </a:rPr>
              <a:t>Installed extensions and development tools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3858768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050" b="1" i="0" u="none">
                <a:solidFill>
                  <a:srgbClr val="E64072"/>
                </a:solidFill>
                <a:latin typeface="Aptos"/>
              </a:rPr>
              <a:t>STEPS</a:t>
            </a:r>
          </a:p>
        </p:txBody>
      </p:sp>
      <p:sp>
        <p:nvSpPr>
          <p:cNvPr id="11" name="TextBox 10"/>
          <p:cNvSpPr txBox="1">
            <a:spLocks/>
          </p:cNvSpPr>
          <p:nvPr/>
        </p:nvSpPr>
        <p:spPr>
          <a:xfrm>
            <a:off x="886968" y="4187952"/>
            <a:ext cx="3246120" cy="6949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400" b="0" i="0" u="none">
                <a:solidFill>
                  <a:srgbClr val="6B6175"/>
                </a:solidFill>
                <a:latin typeface="Aptos"/>
              </a:rPr>
              <a:t>Open the page and describe what you see.</a:t>
            </a:r>
          </a:p>
        </p:txBody>
      </p:sp>
      <p:sp>
        <p:nvSpPr>
          <p:cNvPr id="12" name="Rectangle 11"/>
          <p:cNvSpPr>
            <a:spLocks/>
          </p:cNvSpPr>
          <p:nvPr/>
        </p:nvSpPr>
        <p:spPr>
          <a:xfrm>
            <a:off x="4462272" y="1810512"/>
            <a:ext cx="64008" cy="3236976"/>
          </a:xfrm>
          <a:prstGeom prst="rect">
            <a:avLst/>
          </a:prstGeom>
          <a:solidFill>
            <a:srgbClr val="563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/>
          <p:cNvSpPr txBox="1">
            <a:spLocks/>
          </p:cNvSpPr>
          <p:nvPr/>
        </p:nvSpPr>
        <p:spPr>
          <a:xfrm>
            <a:off x="4690872" y="1837943"/>
            <a:ext cx="3236976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200" b="1" i="0" u="none">
                <a:solidFill>
                  <a:srgbClr val="5632A8"/>
                </a:solidFill>
                <a:latin typeface="Aptos"/>
              </a:rPr>
              <a:t>HEALTH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90872" y="2249424"/>
            <a:ext cx="324612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250" b="1" i="0" u="sng">
                <a:solidFill>
                  <a:srgbClr val="5632A8"/>
                </a:solidFill>
                <a:latin typeface="Aptos Mono"/>
              </a:rPr>
              <a:t>http://localhost:8080/q/health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90872" y="2862072"/>
            <a:ext cx="324612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600" b="1" i="0" u="none">
                <a:solidFill>
                  <a:srgbClr val="11152B"/>
                </a:solidFill>
                <a:latin typeface="Aptos"/>
              </a:rPr>
              <a:t>Application health status</a:t>
            </a:r>
          </a:p>
        </p:txBody>
      </p:sp>
      <p:sp>
        <p:nvSpPr>
          <p:cNvPr id="16" name="TextBox 15"/>
          <p:cNvSpPr txBox="1">
            <a:spLocks/>
          </p:cNvSpPr>
          <p:nvPr/>
        </p:nvSpPr>
        <p:spPr>
          <a:xfrm>
            <a:off x="4690872" y="3858768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050" b="1" i="0" u="none">
                <a:solidFill>
                  <a:srgbClr val="E64072"/>
                </a:solidFill>
                <a:latin typeface="Aptos"/>
              </a:rPr>
              <a:t>STEPS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90872" y="4187952"/>
            <a:ext cx="3246120" cy="6949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400" b="0" i="0" u="none">
                <a:solidFill>
                  <a:srgbClr val="6B6175"/>
                </a:solidFill>
                <a:latin typeface="Aptos"/>
              </a:rPr>
              <a:t>Open the page and describe what you see.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66176" y="1810512"/>
            <a:ext cx="64008" cy="3236976"/>
          </a:xfrm>
          <a:prstGeom prst="rect">
            <a:avLst/>
          </a:prstGeom>
          <a:solidFill>
            <a:srgbClr val="39B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94776" y="1837943"/>
            <a:ext cx="3236976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200" b="1" i="0" u="none">
                <a:solidFill>
                  <a:srgbClr val="39B89A"/>
                </a:solidFill>
                <a:latin typeface="Aptos"/>
              </a:rPr>
              <a:t>SWAGGER UI</a:t>
            </a:r>
          </a:p>
        </p:txBody>
      </p:sp>
      <p:sp>
        <p:nvSpPr>
          <p:cNvPr id="20" name="TextBox 19"/>
          <p:cNvSpPr txBox="1">
            <a:spLocks/>
          </p:cNvSpPr>
          <p:nvPr/>
        </p:nvSpPr>
        <p:spPr>
          <a:xfrm>
            <a:off x="8494776" y="2249424"/>
            <a:ext cx="324612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250" b="1" i="0" u="sng">
                <a:solidFill>
                  <a:srgbClr val="5632A8"/>
                </a:solidFill>
                <a:latin typeface="Aptos Mono"/>
              </a:rPr>
              <a:t>http://localhost:8080/q/swagger-ui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94776" y="2862072"/>
            <a:ext cx="324612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fr-FR" sz="1600" b="1" i="0" u="none">
                <a:solidFill>
                  <a:srgbClr val="11152B"/>
                </a:solidFill>
                <a:latin typeface="Aptos"/>
              </a:rPr>
              <a:t>Interactive API documentation and available endpoints</a:t>
            </a:r>
          </a:p>
        </p:txBody>
      </p:sp>
      <p:sp>
        <p:nvSpPr>
          <p:cNvPr id="22" name="TextBox 21"/>
          <p:cNvSpPr txBox="1">
            <a:spLocks/>
          </p:cNvSpPr>
          <p:nvPr/>
        </p:nvSpPr>
        <p:spPr>
          <a:xfrm>
            <a:off x="8494776" y="3858768"/>
            <a:ext cx="320040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050" b="1" i="0" u="none">
                <a:solidFill>
                  <a:srgbClr val="E64072"/>
                </a:solidFill>
                <a:latin typeface="Aptos"/>
              </a:rPr>
              <a:t>STEPS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94776" y="4187952"/>
            <a:ext cx="3246120" cy="6949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400" b="1" i="0" u="none">
                <a:solidFill>
                  <a:srgbClr val="6B6175"/>
                </a:solidFill>
                <a:latin typeface="Aptos"/>
              </a:rPr>
              <a:t>Use Swagger UI to call /hello and /about.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5212080"/>
            <a:ext cx="310896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 u="none">
                <a:solidFill>
                  <a:srgbClr val="E64072"/>
                </a:solidFill>
                <a:latin typeface="Aptos"/>
              </a:rPr>
              <a:t>EXPECTED RESULT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29968" y="5166360"/>
            <a:ext cx="918972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 u="none">
                <a:solidFill>
                  <a:srgbClr val="11152B"/>
                </a:solidFill>
                <a:latin typeface="Aptos"/>
              </a:rPr>
              <a:t>All three pages open because Health and OpenAPI were added during project generation.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5513832"/>
            <a:ext cx="10853928" cy="566928"/>
          </a:xfrm>
          <a:prstGeom prst="rect">
            <a:avLst/>
          </a:prstGeom>
          <a:solidFill>
            <a:srgbClr val="EE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96112" y="5605272"/>
            <a:ext cx="1865376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 u="none">
                <a:solidFill>
                  <a:srgbClr val="E64072"/>
                </a:solidFill>
                <a:latin typeface="Aptos"/>
              </a:rPr>
              <a:t>YOU ARE DONE WHEN…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61488" y="5586984"/>
            <a:ext cx="8458200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 i="0" u="none">
                <a:solidFill>
                  <a:srgbClr val="5632A8"/>
                </a:solidFill>
                <a:latin typeface="Aptos"/>
              </a:rPr>
              <a:t>Swagger UI can call both /hello and /about successfully.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640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585216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100" b="1" i="0" u="none">
                <a:solidFill>
                  <a:srgbClr val="E64072"/>
                </a:solidFill>
                <a:latin typeface="Aptos"/>
              </a:rPr>
              <a:t>TROUBLESHOOTING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18520" cy="52120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3000" b="1" i="0" u="none">
                <a:solidFill>
                  <a:srgbClr val="11152B"/>
                </a:solidFill>
                <a:latin typeface="Aptos Display"/>
              </a:rPr>
              <a:t>Setup and startup problems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97864"/>
            <a:ext cx="1097280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500" b="0" i="0" u="none">
                <a:solidFill>
                  <a:srgbClr val="6B6175"/>
                </a:solidFill>
                <a:latin typeface="Aptos"/>
              </a:rPr>
              <a:t>Work from the first symptom you can see — then retry the same step.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847088"/>
            <a:ext cx="64008" cy="3602736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865376"/>
            <a:ext cx="3246120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700" b="1" i="0" u="none">
                <a:solidFill>
                  <a:srgbClr val="11152B"/>
                </a:solidFill>
                <a:latin typeface="Aptos"/>
              </a:rPr>
              <a:t>Java is not recognised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78608"/>
            <a:ext cx="20116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600" b="1" i="0" u="none">
                <a:solidFill>
                  <a:srgbClr val="FF6B6B"/>
                </a:solidFill>
                <a:latin typeface="Aptos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19" y="2578608"/>
            <a:ext cx="2871216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n-GB" sz="1400" b="0" i="0" u="none">
                <a:solidFill>
                  <a:srgbClr val="6B6175"/>
                </a:solidFill>
                <a:latin typeface="Aptos"/>
              </a:rPr>
              <a:t>Confirm Java 17 or newer is installed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36976"/>
            <a:ext cx="20116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 u="none">
                <a:solidFill>
                  <a:srgbClr val="FF6B6B"/>
                </a:solidFill>
                <a:latin typeface="Apto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19" y="3236976"/>
            <a:ext cx="2871216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 u="none">
                <a:solidFill>
                  <a:srgbClr val="6B6175"/>
                </a:solidFill>
                <a:latin typeface="Aptos"/>
              </a:rPr>
              <a:t>Close and reopen the terminal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59" y="1847088"/>
            <a:ext cx="64008" cy="3602736"/>
          </a:xfrm>
          <a:prstGeom prst="rect">
            <a:avLst/>
          </a:prstGeom>
          <a:solidFill>
            <a:srgbClr val="563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36592" y="1865376"/>
            <a:ext cx="3246120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 u="none">
                <a:solidFill>
                  <a:srgbClr val="11152B"/>
                </a:solidFill>
                <a:latin typeface="Aptos"/>
              </a:rPr>
              <a:t>The wrapper command does not work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2" y="2578608"/>
            <a:ext cx="20116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 u="none">
                <a:solidFill>
                  <a:srgbClr val="5632A8"/>
                </a:solidFill>
                <a:latin typeface="Aptos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10912" y="2578608"/>
            <a:ext cx="2871216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 u="none">
                <a:solidFill>
                  <a:srgbClr val="6B6175"/>
                </a:solidFill>
                <a:latin typeface="Aptos"/>
              </a:rPr>
              <a:t>Confirm the terminal is in the folder containing pom.xml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36592" y="3236976"/>
            <a:ext cx="20116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 u="none">
                <a:solidFill>
                  <a:srgbClr val="5632A8"/>
                </a:solidFill>
                <a:latin typeface="Aptos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10912" y="3236976"/>
            <a:ext cx="2871216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 u="none">
                <a:solidFill>
                  <a:srgbClr val="6B6175"/>
                </a:solidFill>
                <a:latin typeface="Aptos"/>
              </a:rPr>
              <a:t>Use .\mvnw.cmd on Windows PowerShell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36592" y="3895344"/>
            <a:ext cx="20116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 u="none">
                <a:solidFill>
                  <a:srgbClr val="5632A8"/>
                </a:solidFill>
                <a:latin typeface="Aptos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10912" y="3895344"/>
            <a:ext cx="2871216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 u="none">
                <a:solidFill>
                  <a:srgbClr val="6B6175"/>
                </a:solidFill>
                <a:latin typeface="Aptos"/>
              </a:rPr>
              <a:t>Use ./mvnw on macOS, Linux or Git Bash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02752" y="1847088"/>
            <a:ext cx="64008" cy="3602736"/>
          </a:xfrm>
          <a:prstGeom prst="rect">
            <a:avLst/>
          </a:prstGeom>
          <a:solidFill>
            <a:srgbClr val="39B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558784" y="1865376"/>
            <a:ext cx="3246120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 u="none">
                <a:solidFill>
                  <a:srgbClr val="11152B"/>
                </a:solidFill>
                <a:latin typeface="Aptos"/>
              </a:rPr>
              <a:t>Port 8080 is already in use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58784" y="2578608"/>
            <a:ext cx="20116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 u="none">
                <a:solidFill>
                  <a:srgbClr val="39B89A"/>
                </a:solidFill>
                <a:latin typeface="Aptos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33104" y="2578608"/>
            <a:ext cx="2871216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 u="none">
                <a:solidFill>
                  <a:srgbClr val="6B6175"/>
                </a:solidFill>
                <a:latin typeface="Aptos"/>
              </a:rPr>
              <a:t>Stop the other application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58784" y="3236976"/>
            <a:ext cx="20116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 u="none">
                <a:solidFill>
                  <a:srgbClr val="39B89A"/>
                </a:solidFill>
                <a:latin typeface="Aptos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33104" y="3236976"/>
            <a:ext cx="2871216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 u="none">
                <a:solidFill>
                  <a:srgbClr val="6B6175"/>
                </a:solidFill>
                <a:latin typeface="Aptos"/>
              </a:rPr>
              <a:t>Or run Dev Mode on another 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0" y="4681728"/>
            <a:ext cx="621792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 u="none">
                <a:solidFill>
                  <a:srgbClr val="E64072"/>
                </a:solidFill>
                <a:latin typeface="Aptos"/>
              </a:rPr>
              <a:t>WINDOWS POWERSHELL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754880" y="4937760"/>
            <a:ext cx="6565392" cy="530352"/>
          </a:xfrm>
          <a:prstGeom prst="rect">
            <a:avLst/>
          </a:prstGeom>
          <a:solidFill>
            <a:srgbClr val="111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974336" y="5029200"/>
            <a:ext cx="6144768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88000"/>
              </a:lnSpc>
              <a:spcAft>
                <a:spcPts val="0"/>
              </a:spcAft>
            </a:pPr>
            <a:r>
              <a:rPr sz="1400" b="0" i="0" u="none">
                <a:solidFill>
                  <a:srgbClr val="FFFFFF"/>
                </a:solidFill>
                <a:latin typeface="Aptos Mono"/>
              </a:rPr>
              <a:t>.\mvnw.cmd quarkus:dev -Dquarkus.http.port=8081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6731" y="5047488"/>
            <a:ext cx="361982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 u="none" dirty="0">
                <a:solidFill>
                  <a:srgbClr val="5632A8"/>
                </a:solidFill>
                <a:latin typeface="Aptos"/>
              </a:rPr>
              <a:t>To stop Dev Mode: press </a:t>
            </a:r>
            <a:r>
              <a:rPr sz="1400" b="1" i="0" u="none" dirty="0" err="1">
                <a:solidFill>
                  <a:srgbClr val="5632A8"/>
                </a:solidFill>
                <a:latin typeface="Aptos"/>
              </a:rPr>
              <a:t>Ctrl+C</a:t>
            </a:r>
            <a:r>
              <a:rPr sz="1400" b="1" i="0" u="none" dirty="0">
                <a:solidFill>
                  <a:srgbClr val="5632A8"/>
                </a:solidFill>
                <a:latin typeface="Aptos"/>
              </a:rPr>
              <a:t> in the terminal.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640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585216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 u="none">
                <a:solidFill>
                  <a:srgbClr val="E64072"/>
                </a:solidFill>
                <a:latin typeface="Aptos"/>
              </a:rPr>
              <a:t>TROUBLESHOOTING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18520" cy="52120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 u="none">
                <a:solidFill>
                  <a:srgbClr val="11152B"/>
                </a:solidFill>
                <a:latin typeface="Aptos Display"/>
              </a:rPr>
              <a:t>Endpoint and dependency problems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97864"/>
            <a:ext cx="1097280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 u="none">
                <a:solidFill>
                  <a:srgbClr val="6B6175"/>
                </a:solidFill>
                <a:latin typeface="Aptos"/>
              </a:rPr>
              <a:t>Check the running process, path and installed extensions before changing code.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847088"/>
            <a:ext cx="64008" cy="340156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865376"/>
            <a:ext cx="324612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 u="none">
                <a:solidFill>
                  <a:srgbClr val="11152B"/>
                </a:solidFill>
                <a:latin typeface="Aptos"/>
              </a:rPr>
              <a:t>Endpoint returns 404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70048"/>
            <a:ext cx="20116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 u="none">
                <a:solidFill>
                  <a:srgbClr val="FF6B6B"/>
                </a:solidFill>
                <a:latin typeface="Aptos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19" y="2670048"/>
            <a:ext cx="2871216" cy="6217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 u="none">
                <a:solidFill>
                  <a:srgbClr val="6B6175"/>
                </a:solidFill>
                <a:latin typeface="Aptos"/>
              </a:rPr>
              <a:t>Confirm Dev Mode is running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429000"/>
            <a:ext cx="20116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 u="none">
                <a:solidFill>
                  <a:srgbClr val="FF6B6B"/>
                </a:solidFill>
                <a:latin typeface="Apto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19" y="3429000"/>
            <a:ext cx="2871216" cy="6217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 u="none">
                <a:solidFill>
                  <a:srgbClr val="6B6175"/>
                </a:solidFill>
                <a:latin typeface="Aptos"/>
              </a:rPr>
              <a:t>Check the @Path value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187952"/>
            <a:ext cx="20116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 u="none">
                <a:solidFill>
                  <a:srgbClr val="FF6B6B"/>
                </a:solidFill>
                <a:latin typeface="Apto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19" y="4187952"/>
            <a:ext cx="2871216" cy="6217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 u="none">
                <a:solidFill>
                  <a:srgbClr val="6B6175"/>
                </a:solidFill>
                <a:latin typeface="Aptos"/>
              </a:rPr>
              <a:t>Check the browser URL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80559" y="1847088"/>
            <a:ext cx="64008" cy="3401568"/>
          </a:xfrm>
          <a:prstGeom prst="rect">
            <a:avLst/>
          </a:prstGeom>
          <a:solidFill>
            <a:srgbClr val="563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36592" y="1865376"/>
            <a:ext cx="324612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 u="none">
                <a:solidFill>
                  <a:srgbClr val="11152B"/>
                </a:solidFill>
                <a:latin typeface="Aptos"/>
              </a:rPr>
              <a:t>Health or Swagger UI returns 404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36592" y="2670048"/>
            <a:ext cx="20116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 u="none">
                <a:solidFill>
                  <a:srgbClr val="5632A8"/>
                </a:solidFill>
                <a:latin typeface="Aptos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10912" y="2670048"/>
            <a:ext cx="2871216" cy="6217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 u="none">
                <a:solidFill>
                  <a:srgbClr val="6B6175"/>
                </a:solidFill>
                <a:latin typeface="Aptos"/>
              </a:rPr>
              <a:t>Confirm SmallRye Health and SmallRye OpenAPI are listed in pom.xml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02752" y="1847088"/>
            <a:ext cx="64008" cy="3401568"/>
          </a:xfrm>
          <a:prstGeom prst="rect">
            <a:avLst/>
          </a:prstGeom>
          <a:solidFill>
            <a:srgbClr val="39B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58784" y="1865376"/>
            <a:ext cx="324612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 u="none">
                <a:solidFill>
                  <a:srgbClr val="11152B"/>
                </a:solidFill>
                <a:latin typeface="Aptos"/>
              </a:rPr>
              <a:t>Build cannot download dependencies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58784" y="2670048"/>
            <a:ext cx="20116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 u="none">
                <a:solidFill>
                  <a:srgbClr val="39B89A"/>
                </a:solidFill>
                <a:latin typeface="Aptos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33104" y="2670048"/>
            <a:ext cx="2871216" cy="6217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 u="none">
                <a:solidFill>
                  <a:srgbClr val="6B6175"/>
                </a:solidFill>
                <a:latin typeface="Aptos"/>
              </a:rPr>
              <a:t>Check internet, VPN or proxy access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5532120"/>
            <a:ext cx="10853928" cy="502920"/>
          </a:xfrm>
          <a:prstGeom prst="rect">
            <a:avLst/>
          </a:prstGeom>
          <a:solidFill>
            <a:srgbClr val="EE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32688" y="5641848"/>
            <a:ext cx="10305288" cy="2468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 i="0" u="none">
                <a:solidFill>
                  <a:srgbClr val="5632A8"/>
                </a:solidFill>
                <a:latin typeface="Aptos"/>
              </a:rPr>
              <a:t>After each fix, repeat the same browser URL or command so you know what changed.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640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585216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 u="none">
                <a:solidFill>
                  <a:srgbClr val="E64072"/>
                </a:solidFill>
                <a:latin typeface="Aptos"/>
              </a:rPr>
              <a:t>ACTIVITY 10 • REQUIRED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18520" cy="52120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 u="none">
                <a:solidFill>
                  <a:srgbClr val="11152B"/>
                </a:solidFill>
                <a:latin typeface="Aptos Display"/>
              </a:rPr>
              <a:t>Think like an engineer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97864"/>
            <a:ext cx="1097280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 u="none">
                <a:solidFill>
                  <a:srgbClr val="6B6175"/>
                </a:solidFill>
                <a:latin typeface="Aptos"/>
              </a:rPr>
              <a:t>Look beyond the happy path and record one practical idea for each area.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828800"/>
            <a:ext cx="64008" cy="327355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865376"/>
            <a:ext cx="315468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 u="none">
                <a:solidFill>
                  <a:srgbClr val="FF6B6B"/>
                </a:solidFill>
                <a:latin typeface="Aptos"/>
              </a:rPr>
              <a:t>RELIABILITY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04288"/>
            <a:ext cx="3246120" cy="868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 u="none">
                <a:solidFill>
                  <a:srgbClr val="11152B"/>
                </a:solidFill>
                <a:latin typeface="Aptos"/>
              </a:rPr>
              <a:t>How would we know whether the service is healthy?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38144"/>
            <a:ext cx="310896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 u="none">
                <a:solidFill>
                  <a:srgbClr val="E64072"/>
                </a:solidFill>
                <a:latin typeface="Aptos"/>
              </a:rPr>
              <a:t>YOUR IDEAS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3813048"/>
            <a:ext cx="3154680" cy="10972"/>
          </a:xfrm>
          <a:prstGeom prst="rect">
            <a:avLst/>
          </a:prstGeom>
          <a:solidFill>
            <a:srgbClr val="D8C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14400" y="4105656"/>
            <a:ext cx="3154680" cy="10972"/>
          </a:xfrm>
          <a:prstGeom prst="rect">
            <a:avLst/>
          </a:prstGeom>
          <a:solidFill>
            <a:srgbClr val="D8C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14400" y="4398264"/>
            <a:ext cx="3154680" cy="10972"/>
          </a:xfrm>
          <a:prstGeom prst="rect">
            <a:avLst/>
          </a:prstGeom>
          <a:solidFill>
            <a:srgbClr val="D8C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914400" y="4690872"/>
            <a:ext cx="3154680" cy="10972"/>
          </a:xfrm>
          <a:prstGeom prst="rect">
            <a:avLst/>
          </a:prstGeom>
          <a:solidFill>
            <a:srgbClr val="D8C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80559" y="1828800"/>
            <a:ext cx="64008" cy="3273552"/>
          </a:xfrm>
          <a:prstGeom prst="rect">
            <a:avLst/>
          </a:prstGeom>
          <a:solidFill>
            <a:srgbClr val="563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36592" y="1865376"/>
            <a:ext cx="315468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 u="none">
                <a:solidFill>
                  <a:srgbClr val="5632A8"/>
                </a:solidFill>
                <a:latin typeface="Aptos"/>
              </a:rPr>
              <a:t>MONITORING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36592" y="2304288"/>
            <a:ext cx="3246120" cy="868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 u="none">
                <a:solidFill>
                  <a:srgbClr val="11152B"/>
                </a:solidFill>
                <a:latin typeface="Aptos"/>
              </a:rPr>
              <a:t>How would we know whether customers are using it?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36592" y="3438144"/>
            <a:ext cx="310896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 u="none">
                <a:solidFill>
                  <a:srgbClr val="E64072"/>
                </a:solidFill>
                <a:latin typeface="Aptos"/>
              </a:rPr>
              <a:t>YOUR IDEAS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36592" y="3813048"/>
            <a:ext cx="3154680" cy="10972"/>
          </a:xfrm>
          <a:prstGeom prst="rect">
            <a:avLst/>
          </a:prstGeom>
          <a:solidFill>
            <a:srgbClr val="D8C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736592" y="4105656"/>
            <a:ext cx="3154680" cy="10972"/>
          </a:xfrm>
          <a:prstGeom prst="rect">
            <a:avLst/>
          </a:prstGeom>
          <a:solidFill>
            <a:srgbClr val="D8C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736592" y="4398264"/>
            <a:ext cx="3154680" cy="10972"/>
          </a:xfrm>
          <a:prstGeom prst="rect">
            <a:avLst/>
          </a:prstGeom>
          <a:solidFill>
            <a:srgbClr val="D8C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736592" y="4690872"/>
            <a:ext cx="3154680" cy="10972"/>
          </a:xfrm>
          <a:prstGeom prst="rect">
            <a:avLst/>
          </a:prstGeom>
          <a:solidFill>
            <a:srgbClr val="D8C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302752" y="1828800"/>
            <a:ext cx="64008" cy="3273552"/>
          </a:xfrm>
          <a:prstGeom prst="rect">
            <a:avLst/>
          </a:prstGeom>
          <a:solidFill>
            <a:srgbClr val="39B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558784" y="1865376"/>
            <a:ext cx="315468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 u="none">
                <a:solidFill>
                  <a:srgbClr val="39B89A"/>
                </a:solidFill>
                <a:latin typeface="Aptos"/>
              </a:rPr>
              <a:t>SECURITY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58784" y="2304288"/>
            <a:ext cx="3246120" cy="868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 u="none">
                <a:solidFill>
                  <a:srgbClr val="11152B"/>
                </a:solidFill>
                <a:latin typeface="Aptos"/>
              </a:rPr>
              <a:t>What must happen before exposing it publicly?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58784" y="3438144"/>
            <a:ext cx="310896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 u="none">
                <a:solidFill>
                  <a:srgbClr val="E64072"/>
                </a:solidFill>
                <a:latin typeface="Aptos"/>
              </a:rPr>
              <a:t>YOUR IDEAS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558784" y="3813048"/>
            <a:ext cx="3154680" cy="10972"/>
          </a:xfrm>
          <a:prstGeom prst="rect">
            <a:avLst/>
          </a:prstGeom>
          <a:solidFill>
            <a:srgbClr val="D8C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558784" y="4105656"/>
            <a:ext cx="3154680" cy="10972"/>
          </a:xfrm>
          <a:prstGeom prst="rect">
            <a:avLst/>
          </a:prstGeom>
          <a:solidFill>
            <a:srgbClr val="D8C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558784" y="4398264"/>
            <a:ext cx="3154680" cy="10972"/>
          </a:xfrm>
          <a:prstGeom prst="rect">
            <a:avLst/>
          </a:prstGeom>
          <a:solidFill>
            <a:srgbClr val="D8C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558784" y="4690872"/>
            <a:ext cx="3154680" cy="10972"/>
          </a:xfrm>
          <a:prstGeom prst="rect">
            <a:avLst/>
          </a:prstGeom>
          <a:solidFill>
            <a:srgbClr val="D8C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58368" y="5513832"/>
            <a:ext cx="10853928" cy="566928"/>
          </a:xfrm>
          <a:prstGeom prst="rect">
            <a:avLst/>
          </a:prstGeom>
          <a:solidFill>
            <a:srgbClr val="EE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96112" y="5605272"/>
            <a:ext cx="1865376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 u="none">
                <a:solidFill>
                  <a:srgbClr val="E64072"/>
                </a:solidFill>
                <a:latin typeface="Aptos"/>
              </a:rPr>
              <a:t>YOU ARE DONE WHEN…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61488" y="5586984"/>
            <a:ext cx="8458200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 i="0" u="none">
                <a:solidFill>
                  <a:srgbClr val="5632A8"/>
                </a:solidFill>
                <a:latin typeface="Aptos"/>
              </a:rPr>
              <a:t>Your group has recorded at least one idea for reliability, monitoring and security.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640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585216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 u="none">
                <a:solidFill>
                  <a:srgbClr val="E64072"/>
                </a:solidFill>
                <a:latin typeface="Aptos"/>
              </a:rPr>
              <a:t>ACTIVITY 11 • OPTIONAL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18520" cy="52120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 u="none">
                <a:solidFill>
                  <a:srgbClr val="11152B"/>
                </a:solidFill>
                <a:latin typeface="Aptos Display"/>
              </a:rPr>
              <a:t>Containerisation: from laptop to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97864"/>
            <a:ext cx="1097280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 u="none">
                <a:solidFill>
                  <a:srgbClr val="6B6175"/>
                </a:solidFill>
                <a:latin typeface="Aptos"/>
              </a:rPr>
              <a:t>Choose this discussion if your group is ready to connect the service to deployment.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773936"/>
            <a:ext cx="310896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 u="none">
                <a:solidFill>
                  <a:srgbClr val="E64072"/>
                </a:solidFill>
                <a:latin typeface="Aptos"/>
              </a:rPr>
              <a:t>DISCUSSION QUESTIONS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2148840"/>
            <a:ext cx="438912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 u="none">
                <a:solidFill>
                  <a:srgbClr val="FF6B6B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43584" y="2148840"/>
            <a:ext cx="480060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 u="none">
                <a:solidFill>
                  <a:srgbClr val="11152B"/>
                </a:solidFill>
                <a:latin typeface="Aptos"/>
              </a:rPr>
              <a:t>What is a container?</a:t>
            </a:r>
          </a:p>
        </p:txBody>
      </p:sp>
      <p:sp>
        <p:nvSpPr>
          <p:cNvPr id="9" name="Rectangle 8"/>
          <p:cNvSpPr/>
          <p:nvPr/>
        </p:nvSpPr>
        <p:spPr>
          <a:xfrm>
            <a:off x="6199632" y="2276856"/>
            <a:ext cx="4892040" cy="10972"/>
          </a:xfrm>
          <a:prstGeom prst="rect">
            <a:avLst/>
          </a:prstGeom>
          <a:solidFill>
            <a:srgbClr val="D8C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94944" y="2807208"/>
            <a:ext cx="438912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 u="none">
                <a:solidFill>
                  <a:srgbClr val="FF6B6B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43584" y="2807208"/>
            <a:ext cx="480060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 u="none">
                <a:solidFill>
                  <a:srgbClr val="11152B"/>
                </a:solidFill>
                <a:latin typeface="Aptos"/>
              </a:rPr>
              <a:t>Why are containers useful?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99632" y="2935224"/>
            <a:ext cx="4892040" cy="10972"/>
          </a:xfrm>
          <a:prstGeom prst="rect">
            <a:avLst/>
          </a:prstGeom>
          <a:solidFill>
            <a:srgbClr val="D8C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94944" y="3465576"/>
            <a:ext cx="438912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 u="none">
                <a:solidFill>
                  <a:srgbClr val="FF6B6B"/>
                </a:solidFill>
                <a:latin typeface="Aptos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43584" y="3465576"/>
            <a:ext cx="480060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 u="none">
                <a:solidFill>
                  <a:srgbClr val="11152B"/>
                </a:solidFill>
                <a:latin typeface="Aptos"/>
              </a:rPr>
              <a:t>What problems do they solve?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9632" y="3593592"/>
            <a:ext cx="4892040" cy="10972"/>
          </a:xfrm>
          <a:prstGeom prst="rect">
            <a:avLst/>
          </a:prstGeom>
          <a:solidFill>
            <a:srgbClr val="D8C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94944" y="4123944"/>
            <a:ext cx="438912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 u="none">
                <a:solidFill>
                  <a:srgbClr val="FF6B6B"/>
                </a:solidFill>
                <a:latin typeface="Aptos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43584" y="4123944"/>
            <a:ext cx="480060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 u="none">
                <a:solidFill>
                  <a:srgbClr val="11152B"/>
                </a:solidFill>
                <a:latin typeface="Aptos"/>
              </a:rPr>
              <a:t>Why do cloud platforms use them?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4251959"/>
            <a:ext cx="4892040" cy="10972"/>
          </a:xfrm>
          <a:prstGeom prst="rect">
            <a:avLst/>
          </a:prstGeom>
          <a:solidFill>
            <a:srgbClr val="D8C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58368" y="5047488"/>
            <a:ext cx="10853928" cy="411480"/>
          </a:xfrm>
          <a:prstGeom prst="rect">
            <a:avLst/>
          </a:prstGeom>
          <a:solidFill>
            <a:srgbClr val="111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2688" y="5148072"/>
            <a:ext cx="1030528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 u="none">
                <a:solidFill>
                  <a:srgbClr val="FFFFFF"/>
                </a:solidFill>
                <a:latin typeface="Aptos"/>
              </a:rPr>
              <a:t>APPLICATION  +  DEPENDENCIES   →   CONTAINER   →   CLOUD PLATFORM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5513832"/>
            <a:ext cx="10853928" cy="566928"/>
          </a:xfrm>
          <a:prstGeom prst="rect">
            <a:avLst/>
          </a:prstGeom>
          <a:solidFill>
            <a:srgbClr val="EE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96112" y="5605272"/>
            <a:ext cx="1865376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 u="none">
                <a:solidFill>
                  <a:srgbClr val="E64072"/>
                </a:solidFill>
                <a:latin typeface="Aptos"/>
              </a:rPr>
              <a:t>YOU ARE DONE WHEN…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61488" y="5586984"/>
            <a:ext cx="8458200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 i="0" u="none">
                <a:solidFill>
                  <a:srgbClr val="5632A8"/>
                </a:solidFill>
                <a:latin typeface="Aptos"/>
              </a:rPr>
              <a:t>Your group can explain one reason a cloud platform uses containers.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640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585216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 u="none">
                <a:solidFill>
                  <a:srgbClr val="E64072"/>
                </a:solidFill>
                <a:latin typeface="Aptos"/>
              </a:rPr>
              <a:t>ACTIVITY 12 • REQUIRED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18520" cy="52120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 u="none">
                <a:solidFill>
                  <a:srgbClr val="11152B"/>
                </a:solidFill>
                <a:latin typeface="Aptos Display"/>
              </a:rPr>
              <a:t>Team challenge: design a simple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97864"/>
            <a:ext cx="1097280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 u="none">
                <a:solidFill>
                  <a:srgbClr val="6B6175"/>
                </a:solidFill>
                <a:latin typeface="Aptos"/>
              </a:rPr>
              <a:t>Choose one scenario, define its interface and compare it with another team.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746504"/>
            <a:ext cx="310896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 u="none">
                <a:solidFill>
                  <a:srgbClr val="E64072"/>
                </a:solidFill>
                <a:latin typeface="Aptos"/>
              </a:rPr>
              <a:t>CHOOSE 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2103120"/>
            <a:ext cx="347472" cy="2468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 u="none">
                <a:solidFill>
                  <a:srgbClr val="FF6B6B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103120"/>
            <a:ext cx="4297680" cy="2834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 u="none">
                <a:solidFill>
                  <a:srgbClr val="11152B"/>
                </a:solidFill>
                <a:latin typeface="Aptos"/>
              </a:rPr>
              <a:t>Library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2633472"/>
            <a:ext cx="347472" cy="2468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 u="none">
                <a:solidFill>
                  <a:srgbClr val="FF6B6B"/>
                </a:solidFill>
                <a:latin typeface="Apto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633472"/>
            <a:ext cx="4297680" cy="2834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 u="none">
                <a:solidFill>
                  <a:srgbClr val="11152B"/>
                </a:solidFill>
                <a:latin typeface="Aptos"/>
              </a:rPr>
              <a:t>Holiday Booking Service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" y="3163824"/>
            <a:ext cx="347472" cy="2468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 u="none">
                <a:solidFill>
                  <a:srgbClr val="FF6B6B"/>
                </a:solidFill>
                <a:latin typeface="Apto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163824"/>
            <a:ext cx="4297680" cy="2834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 u="none">
                <a:solidFill>
                  <a:srgbClr val="11152B"/>
                </a:solidFill>
                <a:latin typeface="Aptos"/>
              </a:rPr>
              <a:t>Rewards Programme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" y="3694175"/>
            <a:ext cx="347472" cy="2468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 u="none">
                <a:solidFill>
                  <a:srgbClr val="FF6B6B"/>
                </a:solidFill>
                <a:latin typeface="Aptos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694175"/>
            <a:ext cx="4297680" cy="2834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 u="none">
                <a:solidFill>
                  <a:srgbClr val="11152B"/>
                </a:solidFill>
                <a:latin typeface="Aptos"/>
              </a:rPr>
              <a:t>Cinema Booking Service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532120" y="1792224"/>
            <a:ext cx="54864" cy="352958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870448" y="1746504"/>
            <a:ext cx="310896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 u="none">
                <a:solidFill>
                  <a:srgbClr val="E64072"/>
                </a:solidFill>
                <a:latin typeface="Aptos"/>
              </a:rPr>
              <a:t>YOUR DESIGN MUST INCLUDE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70448" y="2139696"/>
            <a:ext cx="182880" cy="182880"/>
          </a:xfrm>
          <a:prstGeom prst="rect">
            <a:avLst/>
          </a:prstGeom>
          <a:noFill/>
          <a:ln w="16510">
            <a:solidFill>
              <a:srgbClr val="563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72200" y="2112264"/>
            <a:ext cx="472744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 u="none">
                <a:solidFill>
                  <a:srgbClr val="11152B"/>
                </a:solidFill>
                <a:latin typeface="Aptos"/>
              </a:rPr>
              <a:t>Endpoints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70448" y="2660903"/>
            <a:ext cx="182880" cy="182880"/>
          </a:xfrm>
          <a:prstGeom prst="rect">
            <a:avLst/>
          </a:prstGeom>
          <a:noFill/>
          <a:ln w="16510">
            <a:solidFill>
              <a:srgbClr val="563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172200" y="2633472"/>
            <a:ext cx="472744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 u="none">
                <a:solidFill>
                  <a:srgbClr val="11152B"/>
                </a:solidFill>
                <a:latin typeface="Aptos"/>
              </a:rPr>
              <a:t>Request examples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70448" y="3182112"/>
            <a:ext cx="182880" cy="182880"/>
          </a:xfrm>
          <a:prstGeom prst="rect">
            <a:avLst/>
          </a:prstGeom>
          <a:noFill/>
          <a:ln w="16510">
            <a:solidFill>
              <a:srgbClr val="563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172200" y="3154680"/>
            <a:ext cx="472744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 u="none">
                <a:solidFill>
                  <a:srgbClr val="11152B"/>
                </a:solidFill>
                <a:latin typeface="Aptos"/>
              </a:rPr>
              <a:t>Response examples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870448" y="3703320"/>
            <a:ext cx="182880" cy="182880"/>
          </a:xfrm>
          <a:prstGeom prst="rect">
            <a:avLst/>
          </a:prstGeom>
          <a:noFill/>
          <a:ln w="16510">
            <a:solidFill>
              <a:srgbClr val="563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172200" y="3675887"/>
            <a:ext cx="472744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 u="none">
                <a:solidFill>
                  <a:srgbClr val="11152B"/>
                </a:solidFill>
                <a:latin typeface="Aptos"/>
              </a:rPr>
              <a:t>Error handling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70448" y="4453128"/>
            <a:ext cx="310896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 u="none">
                <a:solidFill>
                  <a:srgbClr val="E64072"/>
                </a:solidFill>
                <a:latin typeface="Aptos"/>
              </a:rPr>
              <a:t>EXPECTED RESULT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70448" y="4782312"/>
            <a:ext cx="5047488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 i="0" u="none">
                <a:solidFill>
                  <a:srgbClr val="11152B"/>
                </a:solidFill>
                <a:latin typeface="Aptos"/>
              </a:rPr>
              <a:t>A second team can understand and test your proposed API.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513832"/>
            <a:ext cx="10853928" cy="566928"/>
          </a:xfrm>
          <a:prstGeom prst="rect">
            <a:avLst/>
          </a:prstGeom>
          <a:solidFill>
            <a:srgbClr val="EE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96112" y="5605272"/>
            <a:ext cx="1865376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 u="none">
                <a:solidFill>
                  <a:srgbClr val="E64072"/>
                </a:solidFill>
                <a:latin typeface="Aptos"/>
              </a:rPr>
              <a:t>YOU ARE DONE WHEN…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61488" y="5586984"/>
            <a:ext cx="8458200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 i="0" u="none">
                <a:solidFill>
                  <a:srgbClr val="5632A8"/>
                </a:solidFill>
                <a:latin typeface="Aptos"/>
              </a:rPr>
              <a:t>Your group has shared its API design and compared approaches.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640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585216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 u="none">
                <a:solidFill>
                  <a:srgbClr val="E64072"/>
                </a:solidFill>
                <a:latin typeface="Aptos"/>
              </a:rPr>
              <a:t>REFLECTION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18520" cy="52120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 u="none">
                <a:solidFill>
                  <a:srgbClr val="11152B"/>
                </a:solidFill>
                <a:latin typeface="Aptos Display"/>
              </a:rPr>
              <a:t>What you should understand by the 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97864"/>
            <a:ext cx="1097280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 u="none">
                <a:solidFill>
                  <a:srgbClr val="6B6175"/>
                </a:solidFill>
                <a:latin typeface="Aptos"/>
              </a:rPr>
              <a:t>Success means being able to create, inspect and change your own Quarkus service.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1847088"/>
            <a:ext cx="438912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 u="none">
                <a:solidFill>
                  <a:srgbClr val="FF6B6B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5024" y="1847088"/>
            <a:ext cx="4617720" cy="438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 u="none">
                <a:solidFill>
                  <a:srgbClr val="11152B"/>
                </a:solidFill>
                <a:latin typeface="Aptos"/>
              </a:rPr>
              <a:t>Generate a project with the right extensions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1335024" y="2459736"/>
            <a:ext cx="4553712" cy="10972"/>
          </a:xfrm>
          <a:prstGeom prst="rect">
            <a:avLst/>
          </a:prstGeom>
          <a:solidFill>
            <a:srgbClr val="D8C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4944" y="2880360"/>
            <a:ext cx="438912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 u="none">
                <a:solidFill>
                  <a:srgbClr val="FF6B6B"/>
                </a:solidFill>
                <a:latin typeface="Apto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35024" y="2880360"/>
            <a:ext cx="4617720" cy="438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 u="none">
                <a:solidFill>
                  <a:srgbClr val="11152B"/>
                </a:solidFill>
                <a:latin typeface="Aptos"/>
              </a:rPr>
              <a:t>Run and stop Dev Mode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35024" y="3493008"/>
            <a:ext cx="4553712" cy="10972"/>
          </a:xfrm>
          <a:prstGeom prst="rect">
            <a:avLst/>
          </a:prstGeom>
          <a:solidFill>
            <a:srgbClr val="D8C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94944" y="3913631"/>
            <a:ext cx="438912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 u="none">
                <a:solidFill>
                  <a:srgbClr val="FF6B6B"/>
                </a:solidFill>
                <a:latin typeface="Aptos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35024" y="3913631"/>
            <a:ext cx="4617720" cy="438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 u="none">
                <a:solidFill>
                  <a:srgbClr val="11152B"/>
                </a:solidFill>
                <a:latin typeface="Aptos"/>
              </a:rPr>
              <a:t>Find the main project files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35024" y="4526279"/>
            <a:ext cx="4553712" cy="10972"/>
          </a:xfrm>
          <a:prstGeom prst="rect">
            <a:avLst/>
          </a:prstGeom>
          <a:solidFill>
            <a:srgbClr val="D8C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44768" y="1847088"/>
            <a:ext cx="438912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 u="none">
                <a:solidFill>
                  <a:srgbClr val="FF6B6B"/>
                </a:solidFill>
                <a:latin typeface="Aptos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84848" y="1847088"/>
            <a:ext cx="4617720" cy="438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 u="none">
                <a:solidFill>
                  <a:srgbClr val="11152B"/>
                </a:solidFill>
                <a:latin typeface="Aptos"/>
              </a:rPr>
              <a:t>Use live reload confidently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84848" y="2459736"/>
            <a:ext cx="4553712" cy="10972"/>
          </a:xfrm>
          <a:prstGeom prst="rect">
            <a:avLst/>
          </a:prstGeom>
          <a:solidFill>
            <a:srgbClr val="D8C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44768" y="2880360"/>
            <a:ext cx="438912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 u="none">
                <a:solidFill>
                  <a:srgbClr val="FF6B6B"/>
                </a:solidFill>
                <a:latin typeface="Aptos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4848" y="2880360"/>
            <a:ext cx="4617720" cy="438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 u="none">
                <a:solidFill>
                  <a:srgbClr val="11152B"/>
                </a:solidFill>
                <a:latin typeface="Aptos"/>
              </a:rPr>
              <a:t>Return JSON and accept a query parameter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84848" y="3493008"/>
            <a:ext cx="4553712" cy="10972"/>
          </a:xfrm>
          <a:prstGeom prst="rect">
            <a:avLst/>
          </a:prstGeom>
          <a:solidFill>
            <a:srgbClr val="D8C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144768" y="3913631"/>
            <a:ext cx="438912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 u="none">
                <a:solidFill>
                  <a:srgbClr val="FF6B6B"/>
                </a:solidFill>
                <a:latin typeface="Aptos"/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84848" y="3913631"/>
            <a:ext cx="4617720" cy="438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 u="none">
                <a:solidFill>
                  <a:srgbClr val="11152B"/>
                </a:solidFill>
                <a:latin typeface="Aptos"/>
              </a:rPr>
              <a:t>Add, test and inspect REST endpoints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784848" y="4526279"/>
            <a:ext cx="4553712" cy="10972"/>
          </a:xfrm>
          <a:prstGeom prst="rect">
            <a:avLst/>
          </a:prstGeom>
          <a:solidFill>
            <a:srgbClr val="D8C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94944" y="5276088"/>
            <a:ext cx="10780776" cy="566928"/>
          </a:xfrm>
          <a:prstGeom prst="rect">
            <a:avLst/>
          </a:prstGeom>
          <a:solidFill>
            <a:srgbClr val="111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41832" y="5431536"/>
            <a:ext cx="102870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 u="none">
                <a:solidFill>
                  <a:srgbClr val="FFFFFF"/>
                </a:solidFill>
                <a:latin typeface="Aptos"/>
              </a:rPr>
              <a:t>Share one success, one question and one next step.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640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585216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 u="none">
                <a:solidFill>
                  <a:srgbClr val="E64072"/>
                </a:solidFill>
                <a:latin typeface="Aptos"/>
              </a:rPr>
              <a:t>OPTIONAL CHALLENGES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18520" cy="52120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 u="none">
                <a:solidFill>
                  <a:srgbClr val="11152B"/>
                </a:solidFill>
                <a:latin typeface="Aptos Display"/>
              </a:rPr>
              <a:t>Keep going when the core activity is complete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97864"/>
            <a:ext cx="1097280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 u="none">
                <a:solidFill>
                  <a:srgbClr val="6B6175"/>
                </a:solidFill>
                <a:latin typeface="Aptos"/>
              </a:rPr>
              <a:t>Choose one extension that adds engineering depth — not just more code.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792224"/>
            <a:ext cx="310896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 u="none">
                <a:solidFill>
                  <a:srgbClr val="E64072"/>
                </a:solidFill>
                <a:latin typeface="Aptos"/>
              </a:rPr>
              <a:t>BUILD CONFIDENCE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2212848"/>
            <a:ext cx="182880" cy="182880"/>
          </a:xfrm>
          <a:prstGeom prst="rect">
            <a:avLst/>
          </a:prstGeom>
          <a:noFill/>
          <a:ln w="16510">
            <a:solidFill>
              <a:srgbClr val="563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2185416"/>
            <a:ext cx="449884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 u="none">
                <a:solidFill>
                  <a:srgbClr val="11152B"/>
                </a:solidFill>
                <a:latin typeface="Aptos"/>
              </a:rPr>
              <a:t>Add validation to an endpoint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70632"/>
            <a:ext cx="182880" cy="182880"/>
          </a:xfrm>
          <a:prstGeom prst="rect">
            <a:avLst/>
          </a:prstGeom>
          <a:noFill/>
          <a:ln w="16510">
            <a:solidFill>
              <a:srgbClr val="563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2743200"/>
            <a:ext cx="449884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 u="none">
                <a:solidFill>
                  <a:srgbClr val="11152B"/>
                </a:solidFill>
                <a:latin typeface="Aptos"/>
              </a:rPr>
              <a:t>Add logging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328416"/>
            <a:ext cx="182880" cy="182880"/>
          </a:xfrm>
          <a:prstGeom prst="rect">
            <a:avLst/>
          </a:prstGeom>
          <a:noFill/>
          <a:ln w="16510">
            <a:solidFill>
              <a:srgbClr val="563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3300984"/>
            <a:ext cx="449884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 u="none">
                <a:solidFill>
                  <a:srgbClr val="11152B"/>
                </a:solidFill>
                <a:latin typeface="Aptos"/>
              </a:rPr>
              <a:t>Add a health check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3886200"/>
            <a:ext cx="182880" cy="182880"/>
          </a:xfrm>
          <a:prstGeom prst="rect">
            <a:avLst/>
          </a:prstGeom>
          <a:noFill/>
          <a:ln w="16510">
            <a:solidFill>
              <a:srgbClr val="563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0120" y="3858768"/>
            <a:ext cx="449884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 u="none">
                <a:solidFill>
                  <a:srgbClr val="11152B"/>
                </a:solidFill>
                <a:latin typeface="Aptos"/>
              </a:rPr>
              <a:t>Add a new business feature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1792224"/>
            <a:ext cx="310896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 u="none">
                <a:solidFill>
                  <a:srgbClr val="E64072"/>
                </a:solidFill>
                <a:latin typeface="Aptos"/>
              </a:rPr>
              <a:t>PUSH FURTHER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2212848"/>
            <a:ext cx="182880" cy="182880"/>
          </a:xfrm>
          <a:prstGeom prst="rect">
            <a:avLst/>
          </a:prstGeom>
          <a:noFill/>
          <a:ln w="16510">
            <a:solidFill>
              <a:srgbClr val="563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65392" y="2185416"/>
            <a:ext cx="449884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 u="none">
                <a:solidFill>
                  <a:srgbClr val="11152B"/>
                </a:solidFill>
                <a:latin typeface="Aptos"/>
              </a:rPr>
              <a:t>Write a unit test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2770632"/>
            <a:ext cx="182880" cy="182880"/>
          </a:xfrm>
          <a:prstGeom prst="rect">
            <a:avLst/>
          </a:prstGeom>
          <a:noFill/>
          <a:ln w="16510">
            <a:solidFill>
              <a:srgbClr val="563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65392" y="2743200"/>
            <a:ext cx="449884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 u="none">
                <a:solidFill>
                  <a:srgbClr val="11152B"/>
                </a:solidFill>
                <a:latin typeface="Aptos"/>
              </a:rPr>
              <a:t>Dockerise the application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3328416"/>
            <a:ext cx="182880" cy="182880"/>
          </a:xfrm>
          <a:prstGeom prst="rect">
            <a:avLst/>
          </a:prstGeom>
          <a:noFill/>
          <a:ln w="16510">
            <a:solidFill>
              <a:srgbClr val="563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65392" y="3300984"/>
            <a:ext cx="449884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 u="none">
                <a:solidFill>
                  <a:srgbClr val="11152B"/>
                </a:solidFill>
                <a:latin typeface="Aptos"/>
              </a:rPr>
              <a:t>Deploy to a local container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4773168"/>
            <a:ext cx="10853928" cy="502920"/>
          </a:xfrm>
          <a:prstGeom prst="rect">
            <a:avLst/>
          </a:prstGeom>
          <a:solidFill>
            <a:srgbClr val="EE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32688" y="4892040"/>
            <a:ext cx="10305288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 u="none">
                <a:solidFill>
                  <a:srgbClr val="5632A8"/>
                </a:solidFill>
                <a:latin typeface="Aptos"/>
              </a:rPr>
              <a:t>Pick one challenge that matches your confidence and available time.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5513832"/>
            <a:ext cx="10853928" cy="566928"/>
          </a:xfrm>
          <a:prstGeom prst="rect">
            <a:avLst/>
          </a:prstGeom>
          <a:solidFill>
            <a:srgbClr val="EE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96112" y="5605272"/>
            <a:ext cx="1865376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 u="none">
                <a:solidFill>
                  <a:srgbClr val="E64072"/>
                </a:solidFill>
                <a:latin typeface="Aptos"/>
              </a:rPr>
              <a:t>YOU ARE DONE WHEN…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61488" y="5586984"/>
            <a:ext cx="8458200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50" b="1" i="0" u="none">
                <a:solidFill>
                  <a:srgbClr val="5632A8"/>
                </a:solidFill>
                <a:latin typeface="Aptos"/>
              </a:rPr>
              <a:t>Your chosen challenge has an observable result or a passing test.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5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640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585216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 u="none">
                <a:solidFill>
                  <a:srgbClr val="E64072"/>
                </a:solidFill>
                <a:latin typeface="Aptos"/>
              </a:rPr>
              <a:t>WRAP-UP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1018520" cy="52120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 u="none">
                <a:solidFill>
                  <a:srgbClr val="FFFFFF"/>
                </a:solidFill>
                <a:latin typeface="Aptos Display"/>
              </a:rPr>
              <a:t>You built it from scratch.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664208"/>
            <a:ext cx="1069848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 i="0" u="none">
                <a:solidFill>
                  <a:srgbClr val="FF6B6B"/>
                </a:solidFill>
                <a:latin typeface="Aptos"/>
              </a:rPr>
              <a:t>CHECK  →  CREATE  →  RUN  →  EXPLORE  →  CHANGE  →  EXTEND</a:t>
            </a:r>
          </a:p>
        </p:txBody>
      </p:sp>
      <p:sp>
        <p:nvSpPr>
          <p:cNvPr id="6" name="Rectangle 5"/>
          <p:cNvSpPr/>
          <p:nvPr/>
        </p:nvSpPr>
        <p:spPr>
          <a:xfrm>
            <a:off x="1847088" y="2743200"/>
            <a:ext cx="8503920" cy="1536192"/>
          </a:xfrm>
          <a:prstGeom prst="rect">
            <a:avLst/>
          </a:prstGeom>
          <a:solidFill>
            <a:srgbClr val="1C2140"/>
          </a:solidFill>
          <a:ln w="13970">
            <a:solidFill>
              <a:srgbClr val="5632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249424" y="3099816"/>
            <a:ext cx="7699248" cy="8412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400" b="1" i="0" u="none">
                <a:solidFill>
                  <a:srgbClr val="FFFFFF"/>
                </a:solidFill>
                <a:latin typeface="Aptos Display"/>
              </a:rPr>
              <a:t>Beginner success is understanding your own service well enough to change it with confidence.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507492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0" u="none">
                <a:solidFill>
                  <a:srgbClr val="D8CEE8"/>
                </a:solidFill>
                <a:latin typeface="Aptos"/>
              </a:rPr>
              <a:t>Questions? Pair up, experiment and ask for help early.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6190488"/>
            <a:ext cx="1069848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 i="0" u="none">
                <a:solidFill>
                  <a:srgbClr val="D8CEE8"/>
                </a:solidFill>
                <a:latin typeface="Aptos"/>
              </a:rPr>
              <a:t>Lloyds Banking Group  ×  DevOps Society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17151eb3-00ab-470c-b25c-644c7691e891}" enabled="1" method="Privileged" siteId="{3ded2960-214a-46ff-8cf4-611f125e2398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3083</Words>
  <Application>Microsoft Office PowerPoint</Application>
  <PresentationFormat>Widescreen</PresentationFormat>
  <Paragraphs>521</Paragraphs>
  <Slides>26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Aptos</vt:lpstr>
      <vt:lpstr>Aptos Display</vt:lpstr>
      <vt:lpstr>Aptos Mono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Lloyds Banking Group x DevOps Society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Quarkus Build Day: Beginner Learning Pack</dc:title>
  <dc:subject>Beginner learning pack for the Quarkus Build Day</dc:subject>
  <dc:creator>Hussain, Anika (Segments &amp; Propositions Platform)</dc:creator>
  <cp:lastModifiedBy>Hussain, Anika (Segments &amp; Propositions Platform)</cp:lastModifiedBy>
  <cp:revision>9</cp:revision>
  <dcterms:created xsi:type="dcterms:W3CDTF">2026-09-23T19:45:44Z</dcterms:created>
  <dcterms:modified xsi:type="dcterms:W3CDTF">2026-09-23T21:46:02Z</dcterms:modified>
</cp:coreProperties>
</file>